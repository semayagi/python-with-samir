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notesMasterIdLst>
    <p:notesMasterId r:id="rId51"/>
  </p:notesMasterIdLst>
  <p:sldIdLst>
    <p:sldId id="256" r:id="rId2"/>
    <p:sldId id="259" r:id="rId3"/>
    <p:sldId id="260" r:id="rId4"/>
    <p:sldId id="261" r:id="rId5"/>
    <p:sldId id="262" r:id="rId6"/>
    <p:sldId id="263" r:id="rId7"/>
    <p:sldId id="265" r:id="rId8"/>
    <p:sldId id="267" r:id="rId9"/>
    <p:sldId id="268" r:id="rId10"/>
    <p:sldId id="269" r:id="rId11"/>
    <p:sldId id="270" r:id="rId12"/>
    <p:sldId id="271" r:id="rId13"/>
    <p:sldId id="282" r:id="rId14"/>
    <p:sldId id="286" r:id="rId15"/>
    <p:sldId id="283" r:id="rId16"/>
    <p:sldId id="272" r:id="rId17"/>
    <p:sldId id="289" r:id="rId18"/>
    <p:sldId id="290" r:id="rId19"/>
    <p:sldId id="291" r:id="rId20"/>
    <p:sldId id="276" r:id="rId21"/>
    <p:sldId id="284" r:id="rId22"/>
    <p:sldId id="278" r:id="rId23"/>
    <p:sldId id="277" r:id="rId24"/>
    <p:sldId id="285" r:id="rId25"/>
    <p:sldId id="273" r:id="rId26"/>
    <p:sldId id="274" r:id="rId27"/>
    <p:sldId id="281" r:id="rId28"/>
    <p:sldId id="287" r:id="rId29"/>
    <p:sldId id="275" r:id="rId30"/>
    <p:sldId id="279" r:id="rId31"/>
    <p:sldId id="280" r:id="rId32"/>
    <p:sldId id="288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3" r:id="rId44"/>
    <p:sldId id="302" r:id="rId45"/>
    <p:sldId id="304" r:id="rId46"/>
    <p:sldId id="305" r:id="rId47"/>
    <p:sldId id="306" r:id="rId48"/>
    <p:sldId id="307" r:id="rId49"/>
    <p:sldId id="308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3"/>
    <p:restoredTop sz="94611"/>
  </p:normalViewPr>
  <p:slideViewPr>
    <p:cSldViewPr snapToGrid="0">
      <p:cViewPr>
        <p:scale>
          <a:sx n="104" d="100"/>
          <a:sy n="104" d="100"/>
        </p:scale>
        <p:origin x="672" y="1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1E418B-A308-B941-B237-01ED53ED7C5E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1C8C4E-1CCE-A040-BB73-59F429C68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105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1C8C4E-1CCE-A040-BB73-59F429C68D98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491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361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082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smtClean="0"/>
              <a:t>10/30/25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559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378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378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81886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262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897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smtClean="0"/>
              <a:t>10/30/25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615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256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651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smtClean="0"/>
              <a:t>10/30/25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551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F7D4B-1606-E830-C97A-5C66CD82C6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1560" y="1275907"/>
            <a:ext cx="10070592" cy="3192124"/>
          </a:xfrm>
        </p:spPr>
        <p:txBody>
          <a:bodyPr/>
          <a:lstStyle/>
          <a:p>
            <a:r>
              <a:rPr lang="ru-RU" dirty="0"/>
              <a:t>Архитектура</a:t>
            </a:r>
            <a:r>
              <a:rPr lang="en-US" dirty="0"/>
              <a:t>, t</a:t>
            </a:r>
            <a:r>
              <a:rPr lang="ru-RU" dirty="0" err="1"/>
              <a:t>есты</a:t>
            </a:r>
            <a:r>
              <a:rPr lang="ru-RU" dirty="0"/>
              <a:t> и 5 Почему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07B6AB-B297-2A79-21ED-2A3067AFA9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483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3B646-A700-550D-B943-28814F58B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Глава 1</a:t>
            </a:r>
            <a:r>
              <a:rPr lang="en-US" dirty="0"/>
              <a:t>. </a:t>
            </a:r>
            <a:r>
              <a:rPr lang="ru-RU" dirty="0"/>
              <a:t>Проблема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C3D5B4-1FFA-655D-034E-2547F2FBFF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2756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520BB-D1B4-D782-B5E3-6EC4B81EA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Компания топ-Гусь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2EC14-A375-45BF-D255-D7328BD1DA4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just"/>
            <a:r>
              <a:rPr lang="ru-RU" dirty="0"/>
              <a:t>Мы занимаемся разработкой информационных систем</a:t>
            </a:r>
            <a:r>
              <a:rPr lang="en-US" dirty="0"/>
              <a:t>,</a:t>
            </a:r>
            <a:r>
              <a:rPr lang="ru-RU" dirty="0"/>
              <a:t> обслуживанием и администрированием баз данных</a:t>
            </a:r>
            <a:r>
              <a:rPr lang="en-US" dirty="0"/>
              <a:t>,</a:t>
            </a:r>
            <a:r>
              <a:rPr lang="ru-RU" dirty="0"/>
              <a:t> а еще мы главные держатели гусей на Земле</a:t>
            </a:r>
            <a:r>
              <a:rPr lang="en-US" dirty="0"/>
              <a:t>.</a:t>
            </a:r>
            <a:r>
              <a:rPr lang="ru-RU" dirty="0"/>
              <a:t> Мы хотим реализовать систему</a:t>
            </a:r>
            <a:r>
              <a:rPr lang="en-US" dirty="0"/>
              <a:t>,</a:t>
            </a:r>
            <a:r>
              <a:rPr lang="ru-RU" dirty="0"/>
              <a:t> которая позволяет облегчить мониторинг и координацию гусей в РФ</a:t>
            </a:r>
            <a:r>
              <a:rPr lang="en-US" dirty="0"/>
              <a:t>. </a:t>
            </a:r>
            <a:r>
              <a:rPr lang="ru-RU" dirty="0"/>
              <a:t>Вы как участники нашей команды разработки должны нам помочь в разработке данного решения</a:t>
            </a:r>
            <a:r>
              <a:rPr lang="en-US" dirty="0"/>
              <a:t>.</a:t>
            </a:r>
            <a:r>
              <a:rPr lang="ru-RU" dirty="0"/>
              <a:t> По всем вопросам вам к Гусю Петровичу</a:t>
            </a:r>
            <a:endParaRPr lang="en-US" dirty="0"/>
          </a:p>
        </p:txBody>
      </p:sp>
      <p:pic>
        <p:nvPicPr>
          <p:cNvPr id="5" name="Picture 2" descr="Picture background">
            <a:extLst>
              <a:ext uri="{FF2B5EF4-FFF2-40B4-BE49-F238E27FC236}">
                <a16:creationId xmlns:a16="http://schemas.microsoft.com/office/drawing/2014/main" id="{EA7A04E3-C943-ADB0-769E-304B81AC4A73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2431" y="2193925"/>
            <a:ext cx="3978275" cy="3978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0518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7F767-2C9A-CEC9-2186-2AA02B901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 чего же все начинается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7B74-F224-7A56-0F37-0C585C01DE7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Итак, перед вами стоит задача: разработать новую систему или модуль в уже существующей инфраструктуре. Вы знаете, что необходимо реализовать, но откуда начать? </a:t>
            </a:r>
            <a:endParaRPr lang="en-US" dirty="0"/>
          </a:p>
          <a:p>
            <a:endParaRPr lang="en-US" dirty="0"/>
          </a:p>
        </p:txBody>
      </p:sp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334C91F2-D159-16F7-B800-E13F500625E0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4019" y="2195512"/>
            <a:ext cx="3975100" cy="397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7178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6C89F-5DEF-1E3A-C4BB-0919FFF45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221" y="2624328"/>
            <a:ext cx="10058400" cy="1609344"/>
          </a:xfrm>
        </p:spPr>
        <p:txBody>
          <a:bodyPr/>
          <a:lstStyle/>
          <a:p>
            <a:pPr algn="ctr"/>
            <a:r>
              <a:rPr lang="ru-RU" dirty="0"/>
              <a:t>Правильно</a:t>
            </a:r>
            <a:r>
              <a:rPr lang="en-US" dirty="0"/>
              <a:t>,</a:t>
            </a:r>
            <a:r>
              <a:rPr lang="ru-RU" dirty="0"/>
              <a:t> давайте узнаем требования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337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1FDDE-B915-8BED-5ED5-B039DB3B1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Какие бывают требования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7D56D-E2CD-5C6D-4857-7E8CA88FBF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Бизнес-требования</a:t>
            </a:r>
            <a:r>
              <a:rPr lang="ru-RU" dirty="0"/>
              <a:t> обычно описывают высокоуровневые цели и задачи, которые должна решать система с точки зрения бизнеса. Например, система должна обеспечивать интерфейс для покупок в интернет-магазине.</a:t>
            </a:r>
          </a:p>
          <a:p>
            <a:r>
              <a:rPr lang="ru-RU" b="1" dirty="0"/>
              <a:t>Системные требования</a:t>
            </a:r>
            <a:r>
              <a:rPr lang="ru-RU" dirty="0"/>
              <a:t>, с другой стороны, более технические и конкретизируют, как именно система должна работать, чтобы удовлетворить бизнес-требования. Например, система должна обеспечивать время отклика не более двух секунд.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92352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5939F-A7F4-B6C3-B81E-5DD90260B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Важно понимать</a:t>
            </a:r>
            <a:r>
              <a:rPr lang="en-US" dirty="0"/>
              <a:t>,</a:t>
            </a:r>
            <a:r>
              <a:rPr lang="ru-RU" dirty="0"/>
              <a:t> что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150BD-A15A-8D46-2EFC-E999779D614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just"/>
            <a:r>
              <a:rPr lang="ru-RU" dirty="0"/>
              <a:t>Выявление требований — это не однократный процесс, проводимый на старте разработки. Это происходит непрерывно, требования могут меняться и дополняться по мере развития проекта и получения обратной связи от пользователей.</a:t>
            </a:r>
            <a:endParaRPr lang="en-US" dirty="0"/>
          </a:p>
        </p:txBody>
      </p:sp>
      <p:pic>
        <p:nvPicPr>
          <p:cNvPr id="4100" name="Picture 4" descr="Picture background">
            <a:extLst>
              <a:ext uri="{FF2B5EF4-FFF2-40B4-BE49-F238E27FC236}">
                <a16:creationId xmlns:a16="http://schemas.microsoft.com/office/drawing/2014/main" id="{E82974E9-2BD5-06F0-75B9-E42A27BAEDA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2431" y="2193925"/>
            <a:ext cx="3978275" cy="3978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4697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2751E-D928-55FC-7330-0449B003E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системные требования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5811D3-39F0-A465-E95D-DDB4355220D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Системные требования — это конкретные детали, которые определяют, как система должна быть разработана и как она должна функционировать. Они включают в себя требования к аппаратному обеспечению, программному обеспечению, сетевым ресурсам, безопасности и другим техническим аспектам.</a:t>
            </a:r>
          </a:p>
          <a:p>
            <a:endParaRPr lang="en-US" dirty="0"/>
          </a:p>
        </p:txBody>
      </p:sp>
      <p:pic>
        <p:nvPicPr>
          <p:cNvPr id="5122" name="Picture 2" descr="Picture background">
            <a:extLst>
              <a:ext uri="{FF2B5EF4-FFF2-40B4-BE49-F238E27FC236}">
                <a16:creationId xmlns:a16="http://schemas.microsoft.com/office/drawing/2014/main" id="{C1ADD9FE-400C-BF46-EACC-680FEA799FC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8775" y="2090737"/>
            <a:ext cx="51308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72327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C02B8-572C-5219-9FA7-6D8198E56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Как собирать системные требования?</a:t>
            </a:r>
            <a:br>
              <a:rPr lang="ru-RU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ED0DD-4866-8964-1E1A-497C4AA896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Оценка текущей инфраструктуры</a:t>
            </a:r>
          </a:p>
          <a:p>
            <a:r>
              <a:rPr lang="ru-RU" b="1" dirty="0"/>
              <a:t>Анализ требований к безопасности</a:t>
            </a:r>
          </a:p>
          <a:p>
            <a:r>
              <a:rPr lang="ru-RU" b="1" dirty="0"/>
              <a:t>Сбор информации от участников проекта</a:t>
            </a:r>
          </a:p>
          <a:p>
            <a:r>
              <a:rPr lang="ru-RU" b="1" dirty="0"/>
              <a:t>Проверка соответствия стандартам и регулятивным требованиям</a:t>
            </a:r>
          </a:p>
          <a:p>
            <a:r>
              <a:rPr lang="ru-RU" b="1" dirty="0"/>
              <a:t>Формирование документации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24444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4EFEB-80CA-E49C-49D2-5A02BE8A5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конкретно должна делать наша система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B6738-B788-9E8E-B6FB-9093963B4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ru-RU" dirty="0"/>
              <a:t>Что конкретно должна делать наша система? Это и есть функциональные требования: они описывают конкретные функции или задачи, которые система должна выполнять.</a:t>
            </a:r>
          </a:p>
          <a:p>
            <a:pPr marL="0" indent="0" algn="just">
              <a:buNone/>
            </a:pPr>
            <a:r>
              <a:rPr lang="ru-RU" dirty="0"/>
              <a:t>Функциональные требования могут быть выражены в виде спецификаций, которые описывают действия системы, её реакцию на определённые входы и поведение в определённых ситуациях. Они могут также описывать то, что система не должна делать.</a:t>
            </a:r>
          </a:p>
          <a:p>
            <a:pPr marL="0" indent="0" algn="just">
              <a:buNone/>
            </a:pPr>
            <a:r>
              <a:rPr lang="ru-RU" dirty="0"/>
              <a:t>Вот несколько примеров функциональных требований:</a:t>
            </a:r>
          </a:p>
          <a:p>
            <a:pPr algn="just"/>
            <a:r>
              <a:rPr lang="ru-RU" dirty="0"/>
              <a:t>Система должна предоставлять пользователю возможность регистрации и авторизации (Сервис </a:t>
            </a:r>
            <a:r>
              <a:rPr lang="en-US" dirty="0"/>
              <a:t>Auth).</a:t>
            </a:r>
          </a:p>
          <a:p>
            <a:pPr algn="just"/>
            <a:r>
              <a:rPr lang="ru-RU" dirty="0"/>
              <a:t>Система должна предоставлять администратору возможность добавлять, удалять и редактировать информацию о фильмах (Сервис </a:t>
            </a:r>
            <a:r>
              <a:rPr lang="en-US" dirty="0"/>
              <a:t>Admin Panel).</a:t>
            </a:r>
            <a:br>
              <a:rPr lang="ru-RU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3581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4B041-EDEF-8CE2-6834-15EE00520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Вопросы</a:t>
            </a:r>
            <a:r>
              <a:rPr lang="en-US" dirty="0"/>
              <a:t>,</a:t>
            </a:r>
            <a:r>
              <a:rPr lang="ru-RU" dirty="0"/>
              <a:t> вопросы и еще вопросы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1C8C2-75BE-A6C5-7B13-E9AC2D434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При сборе функциональных требований важно задавать вопросы, которые помогут определить функции системы наиболее точно и полно.</a:t>
            </a:r>
          </a:p>
          <a:p>
            <a:pPr marL="0" indent="0" algn="just">
              <a:buNone/>
            </a:pPr>
            <a:r>
              <a:rPr lang="ru-RU" dirty="0"/>
              <a:t>Например</a:t>
            </a:r>
            <a:r>
              <a:rPr lang="en-US" dirty="0"/>
              <a:t>:</a:t>
            </a:r>
          </a:p>
          <a:p>
            <a:pPr algn="just"/>
            <a:r>
              <a:rPr lang="ru-RU" dirty="0"/>
              <a:t>Что должна делать система?</a:t>
            </a:r>
          </a:p>
          <a:p>
            <a:pPr algn="just"/>
            <a:r>
              <a:rPr lang="ru-RU" dirty="0"/>
              <a:t>Какие задачи система должна решать для пользователя?</a:t>
            </a:r>
          </a:p>
          <a:p>
            <a:pPr algn="just"/>
            <a:r>
              <a:rPr lang="ru-RU" dirty="0"/>
              <a:t>Как система должна реагировать на определённые действия пользователя?</a:t>
            </a:r>
          </a:p>
          <a:p>
            <a:pPr algn="just"/>
            <a:r>
              <a:rPr lang="ru-RU" dirty="0"/>
              <a:t>Есть ли какие-то специфические условия или ограничения для выполнения определённых функций системы?</a:t>
            </a:r>
          </a:p>
          <a:p>
            <a:pPr marL="0" indent="0" algn="just">
              <a:buNone/>
            </a:pPr>
            <a:endParaRPr lang="ru-RU" dirty="0"/>
          </a:p>
          <a:p>
            <a:pPr algn="just"/>
            <a:endParaRPr lang="ru-RU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568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9460E-C23E-78D7-A840-A89EAC4CD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E0C82-EBE4-2FF6-4DAA-E4FEAA9C58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/>
              <a:t>Сценарий использования описывает, как система должна работать с точки зрения конечного пользователя. Сценарий обычно включает в себя набор шагов, которые пользователь выполняет для достижения конкретной цели, и как система реагирует на каждый из этих шагов.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2860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87012-017C-8F04-DB1C-896E227CF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 что если мы не любим функции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E2F4F-CA77-F4E7-67B8-A2E37FE1F5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6757" y="2121408"/>
            <a:ext cx="10201491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Нефункциональные требования </a:t>
            </a:r>
            <a:r>
              <a:rPr lang="ru-RU" dirty="0"/>
              <a:t>— это требования, которые определяют качественные атрибуты системы, а не конкретные функции, которые она должна выполнять. Если функциональные требования отвечают на вопрос «Что система должна делать?», то нефункциональные требования отвечают на вопрос «Как система должна это делать?».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73803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997AD-A787-04EC-97F1-ED8FB22C3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Какие бывает требования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041B5-66EE-F309-472F-73D0DFCFD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1"/>
            <a:r>
              <a:rPr lang="en-US" b="1" dirty="0"/>
              <a:t>Availability</a:t>
            </a:r>
            <a:r>
              <a:rPr lang="en-US" dirty="0"/>
              <a:t> (</a:t>
            </a:r>
            <a:r>
              <a:rPr lang="ru-RU" dirty="0"/>
              <a:t>от англ. «доступность»). Это мера, которая указывает, насколько часто система доступна для использования. Она выражается в процентах и часто используется для описания надёжности систем.</a:t>
            </a:r>
          </a:p>
          <a:p>
            <a:pPr lvl="1"/>
            <a:r>
              <a:rPr lang="en-US" b="1" dirty="0"/>
              <a:t>Reliability</a:t>
            </a:r>
            <a:r>
              <a:rPr lang="en-US" dirty="0"/>
              <a:t> (</a:t>
            </a:r>
            <a:r>
              <a:rPr lang="ru-RU" dirty="0"/>
              <a:t>от англ. «надёжность»). Это мера, которая относится к способности системы или компонента выполнять требуемую функцию на протяжении заданного периода времени. Другими словами, надёжная система должна быть способна работать без сбоев в течение определённого времени при нормальном использовании. (ОООО </a:t>
            </a:r>
            <a:r>
              <a:rPr lang="en-US" dirty="0"/>
              <a:t>SLA 99.9999</a:t>
            </a:r>
            <a:r>
              <a:rPr lang="ru-RU" dirty="0"/>
              <a:t>)</a:t>
            </a:r>
          </a:p>
          <a:p>
            <a:pPr lvl="1"/>
            <a:r>
              <a:rPr lang="en-US" b="1" dirty="0"/>
              <a:t>Maintainability</a:t>
            </a:r>
            <a:r>
              <a:rPr lang="en-US" dirty="0"/>
              <a:t> (</a:t>
            </a:r>
            <a:r>
              <a:rPr lang="ru-RU" dirty="0"/>
              <a:t>от англ. «ремонтопригодность»). Ремонтопригодность определяет время, необходимое для исправления ошибок в приложении или его компоненте, а также время, необходимое для изменений при повышении производительности или других качеств или адаптации к изменяющейся среде. </a:t>
            </a:r>
            <a:endParaRPr lang="en-US" dirty="0"/>
          </a:p>
          <a:p>
            <a:pPr lvl="1"/>
            <a:r>
              <a:rPr lang="en-US" b="1" dirty="0"/>
              <a:t>Scalability</a:t>
            </a:r>
            <a:r>
              <a:rPr lang="en-US" dirty="0"/>
              <a:t> (</a:t>
            </a:r>
            <a:r>
              <a:rPr lang="ru-RU" dirty="0"/>
              <a:t>от англ. масштабируемость). Масштабируемость в контексте нефункциональных требований относится к способности системы эффективно справляться с увеличением нагрузки. Иными словами, это способность системы увеличивать свою производительность в ответ на увеличение объёма входящих данных или количество пользователей.</a:t>
            </a:r>
            <a:endParaRPr lang="en-US" dirty="0"/>
          </a:p>
          <a:p>
            <a:pPr lvl="1"/>
            <a:r>
              <a:rPr lang="en-US" b="1" dirty="0"/>
              <a:t>Fault Tolerance</a:t>
            </a:r>
            <a:r>
              <a:rPr lang="en-US" dirty="0"/>
              <a:t> (</a:t>
            </a:r>
            <a:r>
              <a:rPr lang="ru-RU" dirty="0"/>
              <a:t>Отказоустойчивость). Это способность системы поддерживать свою работоспособность и предотвращать полное прекращение работы в условиях появления отказов или ошибок.</a:t>
            </a:r>
          </a:p>
          <a:p>
            <a:pPr lvl="1"/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0216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CD292-AD7D-5FF2-7FB6-FF0C14BB7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Какие же вопросы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683F4-67F3-31B0-4EE8-9C9A16EB82F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Должна ли система быть абсолютно надежной или какие-то данные могут теряться?</a:t>
            </a:r>
          </a:p>
          <a:p>
            <a:r>
              <a:rPr lang="ru-RU" dirty="0"/>
              <a:t>Что нам важнее — быстрый ответ системы или гарантия учёта последних изменений?</a:t>
            </a:r>
          </a:p>
          <a:p>
            <a:r>
              <a:rPr lang="ru-RU" dirty="0"/>
              <a:t>С какой задержкой могут применяться вносимые нами изменения?</a:t>
            </a:r>
          </a:p>
          <a:p>
            <a:r>
              <a:rPr lang="ru-RU" dirty="0"/>
              <a:t>С какой задержкой отображаются запрашиваемые данные?</a:t>
            </a:r>
          </a:p>
          <a:p>
            <a:endParaRPr lang="en-US" dirty="0"/>
          </a:p>
        </p:txBody>
      </p:sp>
      <p:pic>
        <p:nvPicPr>
          <p:cNvPr id="12290" name="Picture 2" descr="Picture background">
            <a:extLst>
              <a:ext uri="{FF2B5EF4-FFF2-40B4-BE49-F238E27FC236}">
                <a16:creationId xmlns:a16="http://schemas.microsoft.com/office/drawing/2014/main" id="{6029E3A9-CB5A-C71D-4757-DCFEF173881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7274" y="2485785"/>
            <a:ext cx="4754562" cy="2900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01736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18F29BF-9D23-BBFE-B831-FF56FE6F3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Вернемся к компании ТОП-ГУСЬ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4D9FBD-E92C-81B3-5009-39979247F4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3422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FDED3-3C0E-BF00-3913-D97E98D5F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659AD1A-51C7-6CBE-F270-59E422F61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Бизнес описание топ-Гуся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56CC7A-0F28-8352-A340-F0235FCEB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ru-RU" dirty="0"/>
              <a:t>Компания </a:t>
            </a:r>
            <a:r>
              <a:rPr lang="ru-RU" b="1" dirty="0"/>
              <a:t>«Топ-Гусь»</a:t>
            </a:r>
            <a:r>
              <a:rPr lang="ru-RU" dirty="0"/>
              <a:t> — ведущий поставщик высокоинтеллектуальных гусей на рынке РФ и мира</a:t>
            </a:r>
          </a:p>
          <a:p>
            <a:pPr marL="0" indent="0" algn="just">
              <a:buNone/>
            </a:pPr>
            <a:r>
              <a:rPr lang="ru-RU" dirty="0"/>
              <a:t>Мы не просто выращиваем гусей — </a:t>
            </a:r>
            <a:r>
              <a:rPr lang="ru-RU" b="1" dirty="0"/>
              <a:t>мы создаём экосистему осознанной гусятиной координации</a:t>
            </a:r>
            <a:r>
              <a:rPr lang="ru-RU" dirty="0"/>
              <a:t>.</a:t>
            </a:r>
          </a:p>
          <a:p>
            <a:pPr marL="0" indent="0" algn="just">
              <a:buNone/>
            </a:pPr>
            <a:r>
              <a:rPr lang="ru-RU" dirty="0"/>
              <a:t>Наши гуси:</a:t>
            </a:r>
          </a:p>
          <a:p>
            <a:pPr lvl="1" algn="just"/>
            <a:r>
              <a:rPr lang="ru-RU" dirty="0"/>
              <a:t>участвуют в парадах,</a:t>
            </a:r>
          </a:p>
          <a:p>
            <a:pPr lvl="1" algn="just"/>
            <a:r>
              <a:rPr lang="ru-RU" dirty="0"/>
              <a:t>контролируют рубежи деревенских прудов,</a:t>
            </a:r>
          </a:p>
          <a:p>
            <a:pPr lvl="1" algn="just"/>
            <a:r>
              <a:rPr lang="ru-RU" dirty="0"/>
              <a:t>консультируют ИТ-компании по стратегическим вопросам (например: «шипеть или терпеть»), а некоторые даже играют в импровизированных театральных постановках.</a:t>
            </a:r>
            <a:br>
              <a:rPr lang="ru-RU" dirty="0"/>
            </a:br>
            <a:endParaRPr lang="ru-RU" dirty="0"/>
          </a:p>
          <a:p>
            <a:pPr marL="0" indent="0" algn="just">
              <a:buNone/>
            </a:pPr>
            <a:r>
              <a:rPr lang="ru-RU" dirty="0"/>
              <a:t>Однако, с ростом гусятины возникла проблема:</a:t>
            </a:r>
          </a:p>
          <a:p>
            <a:pPr marL="0" indent="0" algn="just">
              <a:buNone/>
            </a:pPr>
            <a:r>
              <a:rPr lang="ru-RU" b="1" dirty="0"/>
              <a:t>гусей слишком много, а следить за ними вручную слишком сложно.</a:t>
            </a:r>
            <a:br>
              <a:rPr lang="ru-RU" dirty="0"/>
            </a:br>
            <a:br>
              <a:rPr lang="ru-RU" dirty="0"/>
            </a:br>
            <a:endParaRPr lang="ru-RU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154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B5F0E-C652-9501-A0FC-9F05D94B5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45787-9F9F-1052-CA54-5321179E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Продолжение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E7133-2324-0155-018F-96E6310E48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ru-RU" dirty="0"/>
              <a:t>Мы сталкиваемся с важными бизнес-рисками:</a:t>
            </a:r>
          </a:p>
          <a:p>
            <a:pPr lvl="1" algn="just"/>
            <a:r>
              <a:rPr lang="ru-RU" dirty="0"/>
              <a:t>гусь может </a:t>
            </a:r>
            <a:r>
              <a:rPr lang="ru-RU" b="1" dirty="0"/>
              <a:t>самовольно эмигрировать</a:t>
            </a:r>
            <a:r>
              <a:rPr lang="ru-RU" dirty="0"/>
              <a:t> на соседнее болото,</a:t>
            </a:r>
          </a:p>
          <a:p>
            <a:pPr lvl="1" algn="just"/>
            <a:r>
              <a:rPr lang="ru-RU" dirty="0"/>
              <a:t>гусь может </a:t>
            </a:r>
            <a:r>
              <a:rPr lang="ru-RU" b="1" dirty="0"/>
              <a:t>вступить в конфликт</a:t>
            </a:r>
            <a:r>
              <a:rPr lang="ru-RU" dirty="0"/>
              <a:t> с другими гусями за территорию с хлебными крошками,</a:t>
            </a:r>
          </a:p>
          <a:p>
            <a:pPr lvl="1" algn="just"/>
            <a:r>
              <a:rPr lang="ru-RU" dirty="0"/>
              <a:t>гусь может просто </a:t>
            </a:r>
            <a:r>
              <a:rPr lang="ru-RU" b="1" dirty="0"/>
              <a:t>уныло сидеть и смотреть в горизонт</a:t>
            </a:r>
            <a:r>
              <a:rPr lang="ru-RU" dirty="0"/>
              <a:t>, ничего не сообщая о своём статусе.</a:t>
            </a:r>
          </a:p>
          <a:p>
            <a:pPr marL="0" indent="0" algn="just">
              <a:buNone/>
            </a:pPr>
            <a:r>
              <a:rPr lang="ru-RU" dirty="0"/>
              <a:t>В условиях рынка </a:t>
            </a:r>
            <a:r>
              <a:rPr lang="ru-RU" b="1" dirty="0"/>
              <a:t>каждый гусь — актив</a:t>
            </a:r>
            <a:r>
              <a:rPr lang="ru-RU" dirty="0"/>
              <a:t>, и нам необходимо </a:t>
            </a:r>
            <a:r>
              <a:rPr lang="ru-RU" b="1" dirty="0"/>
              <a:t>знать о нём всё</a:t>
            </a:r>
            <a:r>
              <a:rPr lang="ru-RU" dirty="0"/>
              <a:t>:</a:t>
            </a:r>
          </a:p>
          <a:p>
            <a:pPr lvl="1" algn="just"/>
            <a:r>
              <a:rPr lang="ru-RU" dirty="0"/>
              <a:t>где он находится,</a:t>
            </a:r>
          </a:p>
          <a:p>
            <a:pPr lvl="1" algn="just"/>
            <a:r>
              <a:rPr lang="ru-RU" dirty="0"/>
              <a:t>с кем он общается,</a:t>
            </a:r>
          </a:p>
          <a:p>
            <a:pPr lvl="1" algn="just"/>
            <a:r>
              <a:rPr lang="ru-RU" dirty="0"/>
              <a:t>не замышляет ли он переворот,</a:t>
            </a:r>
          </a:p>
          <a:p>
            <a:pPr lvl="1" algn="just"/>
            <a:r>
              <a:rPr lang="ru-RU" dirty="0"/>
              <a:t>и доволен ли качеством зерна.</a:t>
            </a:r>
          </a:p>
          <a:p>
            <a:pPr marL="0" indent="0" algn="just">
              <a:buNone/>
            </a:pPr>
            <a:r>
              <a:rPr lang="ru-RU" dirty="0"/>
              <a:t>Поэтому мы запускаем стратегически важную ИТ-инициативу </a:t>
            </a:r>
            <a:r>
              <a:rPr lang="ru-RU" b="1" dirty="0"/>
              <a:t>Гусь.</a:t>
            </a:r>
            <a:r>
              <a:rPr lang="en-US" b="1" dirty="0"/>
              <a:t>NET</a:t>
            </a:r>
            <a:r>
              <a:rPr lang="en-US" dirty="0"/>
              <a:t> —</a:t>
            </a:r>
            <a:r>
              <a:rPr lang="ru-RU" dirty="0"/>
              <a:t> систему мониторинга и координации гусей </a:t>
            </a:r>
            <a:r>
              <a:rPr lang="ru-RU" b="1" dirty="0"/>
              <a:t>в масштабе всей Российской Федерации</a:t>
            </a:r>
            <a:r>
              <a:rPr lang="ru-RU" dirty="0"/>
              <a:t>.</a:t>
            </a:r>
          </a:p>
          <a:p>
            <a:pPr marL="0" indent="0" algn="just">
              <a:buNone/>
            </a:pPr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8364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02E92-E991-4F43-5A6F-E88BC44D7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6B429-F1E6-D6D5-E026-80225C893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A7AEB-D3C4-4863-BEAD-2CF8FB01D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ru-RU" dirty="0"/>
              <a:t>Цель системы:</a:t>
            </a:r>
            <a:br>
              <a:rPr lang="ru-RU" dirty="0"/>
            </a:br>
            <a:endParaRPr lang="ru-RU" dirty="0"/>
          </a:p>
          <a:p>
            <a:pPr marL="0" indent="0" algn="just">
              <a:buNone/>
            </a:pPr>
            <a:r>
              <a:rPr lang="ru-RU" b="1" dirty="0"/>
              <a:t>Обеспечить прозрачный, гуманный и технологичный контроль гусей,</a:t>
            </a:r>
            <a:endParaRPr lang="ru-RU" dirty="0"/>
          </a:p>
          <a:p>
            <a:pPr marL="0" indent="0" algn="just">
              <a:buNone/>
            </a:pPr>
            <a:r>
              <a:rPr lang="ru-RU" b="1" dirty="0"/>
              <a:t>чтобы ни один гусь не был потерян, забыт или недооценён.</a:t>
            </a:r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r>
              <a:rPr lang="ru-RU" dirty="0"/>
              <a:t>Система позволит:</a:t>
            </a:r>
          </a:p>
          <a:p>
            <a:pPr algn="just"/>
            <a:r>
              <a:rPr lang="ru-RU" dirty="0"/>
              <a:t>быстро регистрировать новых гусей (например, тех, кто был найден на парковке ТРЦ «Мега»),</a:t>
            </a:r>
          </a:p>
          <a:p>
            <a:pPr algn="just"/>
            <a:r>
              <a:rPr lang="ru-RU" dirty="0"/>
              <a:t>видеть текущие перемещения гусей по карте (важно для оптимизации гусиной логистики),</a:t>
            </a:r>
          </a:p>
          <a:p>
            <a:pPr algn="just"/>
            <a:r>
              <a:rPr lang="ru-RU" dirty="0"/>
              <a:t>отслеживать, не начал ли гусь </a:t>
            </a:r>
            <a:r>
              <a:rPr lang="ru-RU" b="1" dirty="0"/>
              <a:t>опасно умнеть</a:t>
            </a:r>
            <a:r>
              <a:rPr lang="ru-RU" dirty="0"/>
              <a:t> и планировать побег.</a:t>
            </a:r>
            <a:br>
              <a:rPr lang="ru-RU" dirty="0"/>
            </a:br>
            <a:endParaRPr lang="ru-RU" dirty="0"/>
          </a:p>
          <a:p>
            <a:pPr marL="0" indent="0" algn="just">
              <a:buNone/>
            </a:pPr>
            <a:r>
              <a:rPr lang="ru-RU" dirty="0"/>
              <a:t>Главная бизнес-ценность:</a:t>
            </a:r>
            <a:endParaRPr lang="ru-RU" b="1" dirty="0"/>
          </a:p>
          <a:p>
            <a:pPr marL="0" indent="0" algn="just">
              <a:buNone/>
            </a:pPr>
            <a:r>
              <a:rPr lang="ru-RU" b="1" dirty="0"/>
              <a:t>Мы превращаем хаотическое шипение в управляемую </a:t>
            </a:r>
            <a:r>
              <a:rPr lang="ru-RU" b="1" dirty="0" err="1"/>
              <a:t>гусятиную</a:t>
            </a:r>
            <a:r>
              <a:rPr lang="ru-RU" b="1" dirty="0"/>
              <a:t> гармонию.</a:t>
            </a:r>
            <a:endParaRPr lang="ru-RU" dirty="0"/>
          </a:p>
          <a:p>
            <a:pPr marL="0"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033385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5AB73-25A4-6858-8D8F-EC2B98163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Вот как у нас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393A98-2FA7-E738-7379-7D19563766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6322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4" name="Picture 4" descr="Picture background">
            <a:extLst>
              <a:ext uri="{FF2B5EF4-FFF2-40B4-BE49-F238E27FC236}">
                <a16:creationId xmlns:a16="http://schemas.microsoft.com/office/drawing/2014/main" id="{CF44F3C5-E26A-1417-C51A-844FDD185CF3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0025" y="1465477"/>
            <a:ext cx="6711950" cy="4473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90687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1058F-D09E-8D2B-2E30-442E25704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6F94EB2-4C3D-81A5-3B9B-B976AC532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Ой</a:t>
            </a:r>
            <a:r>
              <a:rPr lang="en-US" dirty="0"/>
              <a:t>,</a:t>
            </a:r>
            <a:r>
              <a:rPr lang="ru-RU" dirty="0"/>
              <a:t> что-то как-то непонятно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89D9E2-BEE0-9020-1104-29C3044EEA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189" y="2121407"/>
            <a:ext cx="10325059" cy="456359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b="1" dirty="0"/>
              <a:t>Название системы</a:t>
            </a:r>
            <a:endParaRPr lang="ru-RU" dirty="0"/>
          </a:p>
          <a:p>
            <a:pPr lvl="1"/>
            <a:r>
              <a:rPr lang="ru-RU" dirty="0"/>
              <a:t>Ну, эта… Система Гусей. Или Гусь-Смотритель. Можно потом переименовать.</a:t>
            </a:r>
          </a:p>
          <a:p>
            <a:pPr marL="0" indent="0">
              <a:buNone/>
            </a:pPr>
            <a:r>
              <a:rPr lang="ru-RU" b="1" dirty="0"/>
              <a:t>Цель</a:t>
            </a:r>
          </a:p>
          <a:p>
            <a:pPr lvl="1"/>
            <a:r>
              <a:rPr lang="ru-RU" dirty="0"/>
              <a:t>Чтобы гуси были под контролем, а то они летают, их много.</a:t>
            </a:r>
          </a:p>
          <a:p>
            <a:pPr marL="0" indent="0">
              <a:buNone/>
            </a:pPr>
            <a:r>
              <a:rPr lang="ru-RU" b="1" dirty="0"/>
              <a:t>Что хранить</a:t>
            </a:r>
          </a:p>
          <a:p>
            <a:pPr lvl="1"/>
            <a:r>
              <a:rPr lang="ru-RU" dirty="0"/>
              <a:t>Ну гусей.</a:t>
            </a:r>
          </a:p>
          <a:p>
            <a:pPr lvl="1"/>
            <a:r>
              <a:rPr lang="ru-RU" dirty="0"/>
              <a:t>И еще фермы.</a:t>
            </a:r>
          </a:p>
          <a:p>
            <a:pPr lvl="1"/>
            <a:r>
              <a:rPr lang="ru-RU" dirty="0"/>
              <a:t>А также события какие-то</a:t>
            </a:r>
          </a:p>
          <a:p>
            <a:pPr marL="0" indent="0">
              <a:buNone/>
            </a:pPr>
            <a:r>
              <a:rPr lang="ru-RU" b="1" dirty="0"/>
              <a:t>Требования</a:t>
            </a:r>
          </a:p>
          <a:p>
            <a:pPr lvl="1"/>
            <a:r>
              <a:rPr lang="ru-RU" dirty="0"/>
              <a:t>Надо чтобы видно было где гуси.</a:t>
            </a:r>
          </a:p>
          <a:p>
            <a:pPr lvl="1"/>
            <a:r>
              <a:rPr lang="ru-RU" dirty="0"/>
              <a:t>И чтобы все могли смотреть.</a:t>
            </a:r>
          </a:p>
          <a:p>
            <a:pPr lvl="1"/>
            <a:r>
              <a:rPr lang="ru-RU" dirty="0"/>
              <a:t>Чтобы разная инфа сохранялась.</a:t>
            </a:r>
          </a:p>
          <a:p>
            <a:pPr lvl="1"/>
            <a:r>
              <a:rPr lang="ru-RU" dirty="0"/>
              <a:t>Нужна карта, но можно и без неё.</a:t>
            </a:r>
          </a:p>
          <a:p>
            <a:pPr lvl="1"/>
            <a:r>
              <a:rPr lang="ru-RU" dirty="0"/>
              <a:t>Уведомления — может, потом.</a:t>
            </a:r>
          </a:p>
          <a:p>
            <a:pPr lvl="1"/>
            <a:r>
              <a:rPr lang="ru-RU" dirty="0"/>
              <a:t>Доступ через телефон, компьютер, планшет, кнопочный телефон (если получится).</a:t>
            </a:r>
          </a:p>
          <a:p>
            <a:pPr lvl="1"/>
            <a:r>
              <a:rPr lang="ru-RU" dirty="0"/>
              <a:t>Система не должна тормозить.</a:t>
            </a:r>
            <a:endParaRPr lang="ru-RU" b="1" dirty="0"/>
          </a:p>
          <a:p>
            <a:r>
              <a:rPr lang="en-US" b="1" dirty="0"/>
              <a:t>Use Case </a:t>
            </a:r>
            <a:endParaRPr lang="ru-RU" b="1" dirty="0"/>
          </a:p>
          <a:p>
            <a:pPr lvl="1"/>
            <a:r>
              <a:rPr lang="ru-RU" dirty="0"/>
              <a:t>Сотрудник работает с гусями → он заходит в систему → что-то делает → получает результат.</a:t>
            </a:r>
          </a:p>
          <a:p>
            <a:pPr lvl="1"/>
            <a:endParaRPr lang="ru-RU" dirty="0"/>
          </a:p>
          <a:p>
            <a:endParaRPr lang="ru-RU" dirty="0"/>
          </a:p>
          <a:p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3880926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F6803-5704-F3C5-E170-02D0D8A34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1F827-7A2E-B7AC-9296-7AF8E4AED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 вот как у конкурентов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4780D1-F973-4110-4905-DC7BD02980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5069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9372C-CE77-A2EC-6F8D-1151E2185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Picture background">
            <a:extLst>
              <a:ext uri="{FF2B5EF4-FFF2-40B4-BE49-F238E27FC236}">
                <a16:creationId xmlns:a16="http://schemas.microsoft.com/office/drawing/2014/main" id="{55687F5D-28CE-0C4D-A2CF-C32D1E543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250" y="0"/>
            <a:ext cx="51435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28291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D0B3B49-9901-BE26-0DB4-31B1D3AD3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Начнем правильно собирать требования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5973518-8ED0-270E-880F-E1CD27434A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Название системы</a:t>
            </a:r>
            <a:endParaRPr lang="ru-RU" dirty="0"/>
          </a:p>
          <a:p>
            <a:r>
              <a:rPr lang="ru-RU" b="1" dirty="0"/>
              <a:t>Гусь.</a:t>
            </a:r>
            <a:r>
              <a:rPr lang="en-US" b="1" dirty="0"/>
              <a:t>NET</a:t>
            </a:r>
            <a:r>
              <a:rPr lang="en-US" dirty="0"/>
              <a:t> — </a:t>
            </a:r>
            <a:r>
              <a:rPr lang="ru-RU" dirty="0"/>
              <a:t>система мониторинга и координации гусей на территории РФ.</a:t>
            </a:r>
          </a:p>
          <a:p>
            <a:pPr marL="0" indent="0">
              <a:buNone/>
            </a:pPr>
            <a:r>
              <a:rPr lang="ru-RU" b="1" dirty="0"/>
              <a:t>Цель</a:t>
            </a:r>
            <a:endParaRPr lang="ru-RU" dirty="0"/>
          </a:p>
          <a:p>
            <a:r>
              <a:rPr lang="ru-RU" dirty="0"/>
              <a:t>Обеспечить актуальный учёт количества гусей, их географического расположения, состояния здоровья и принадлежности к гусятникам/фермам.</a:t>
            </a:r>
          </a:p>
          <a:p>
            <a:r>
              <a:rPr lang="ru-RU" dirty="0"/>
              <a:t>Система должна упростить работу региональных гусятников и центрального штаба компании.</a:t>
            </a:r>
          </a:p>
        </p:txBody>
      </p:sp>
    </p:spTree>
    <p:extLst>
      <p:ext uri="{BB962C8B-B14F-4D97-AF65-F5344CB8AC3E}">
        <p14:creationId xmlns:p14="http://schemas.microsoft.com/office/powerpoint/2010/main" val="25336536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1AAC7-A7B2-6768-9967-2156BA6DF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же есть в нашем мире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B606603-C64F-6AA5-BB4B-8919C6E98F1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69975" y="2683510"/>
          <a:ext cx="10058400" cy="2926080"/>
        </p:xfrm>
        <a:graphic>
          <a:graphicData uri="http://schemas.openxmlformats.org/drawingml/2006/table">
            <a:tbl>
              <a:tblPr/>
              <a:tblGrid>
                <a:gridCol w="3352800">
                  <a:extLst>
                    <a:ext uri="{9D8B030D-6E8A-4147-A177-3AD203B41FA5}">
                      <a16:colId xmlns:a16="http://schemas.microsoft.com/office/drawing/2014/main" val="4033511405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803973948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8347123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/>
                        <a:t>Сущность</a:t>
                      </a:r>
                      <a:endParaRPr lang="ru-RU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/>
                        <a:t>Описание</a:t>
                      </a:r>
                      <a:endParaRPr lang="ru-RU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/>
                        <a:t>Пример атрибутов</a:t>
                      </a:r>
                      <a:endParaRPr lang="ru-RU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38327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Гусь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отдельная птица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ID, </a:t>
                      </a:r>
                      <a:r>
                        <a:rPr lang="ru-RU"/>
                        <a:t>кличка, возраст, ферма, статус (здоров, болен, пропал), гео-координаты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46358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Ферма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место содержания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ID, </a:t>
                      </a:r>
                      <a:r>
                        <a:rPr lang="ru-RU"/>
                        <a:t>название, регион, ответственный сотрудник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708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Сотрудник фермы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пользователь системы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ID, </a:t>
                      </a:r>
                      <a:r>
                        <a:rPr lang="ru-RU"/>
                        <a:t>имя, роль, ферма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42170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Событие перемещения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фиксация перемещения гуся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гусь</a:t>
                      </a:r>
                      <a:r>
                        <a:rPr lang="en-US" dirty="0"/>
                        <a:t>ID, </a:t>
                      </a:r>
                      <a:r>
                        <a:rPr lang="ru-RU" dirty="0"/>
                        <a:t>время, координаты, причина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61507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15018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056B0-A09A-60AC-F4A9-6AD74C3EC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Какие функциональные требования у нас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D7452-37F7-C710-BEE0-0035C7C40E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Система должна хранить данные обо всех гусях и фермерах.</a:t>
            </a:r>
          </a:p>
          <a:p>
            <a:r>
              <a:rPr lang="ru-RU" dirty="0"/>
              <a:t>Сотрудники могут </a:t>
            </a:r>
            <a:r>
              <a:rPr lang="ru-RU" b="1" dirty="0"/>
              <a:t>добавлять</a:t>
            </a:r>
            <a:r>
              <a:rPr lang="ru-RU" dirty="0"/>
              <a:t> гусей, обновлять статус здоровья.</a:t>
            </a:r>
          </a:p>
          <a:p>
            <a:r>
              <a:rPr lang="ru-RU" dirty="0"/>
              <a:t>Система принимает данные о </a:t>
            </a:r>
            <a:r>
              <a:rPr lang="ru-RU" b="1" dirty="0"/>
              <a:t>геолокации</a:t>
            </a:r>
            <a:r>
              <a:rPr lang="ru-RU" dirty="0"/>
              <a:t> гусей (через мобильное приложение или датчики).</a:t>
            </a:r>
          </a:p>
          <a:p>
            <a:r>
              <a:rPr lang="ru-RU" dirty="0"/>
              <a:t>Центральный штаб может просматривать:</a:t>
            </a:r>
          </a:p>
          <a:p>
            <a:pPr lvl="1"/>
            <a:r>
              <a:rPr lang="ru-RU" dirty="0"/>
              <a:t>общее количество гусей по регионам,</a:t>
            </a:r>
          </a:p>
          <a:p>
            <a:pPr lvl="1"/>
            <a:r>
              <a:rPr lang="ru-RU" dirty="0"/>
              <a:t>список фермеров и их показатели,</a:t>
            </a:r>
          </a:p>
          <a:p>
            <a:pPr lvl="1"/>
            <a:r>
              <a:rPr lang="ru-RU" dirty="0"/>
              <a:t>тепловую карту расположения гусей.</a:t>
            </a:r>
          </a:p>
          <a:p>
            <a:r>
              <a:rPr lang="ru-RU" dirty="0"/>
              <a:t>Система должна отправлять </a:t>
            </a:r>
            <a:r>
              <a:rPr lang="ru-RU" b="1" dirty="0"/>
              <a:t>уведомления</a:t>
            </a:r>
            <a:r>
              <a:rPr lang="ru-RU" dirty="0"/>
              <a:t>, если гусь:</a:t>
            </a:r>
          </a:p>
          <a:p>
            <a:pPr lvl="1"/>
            <a:r>
              <a:rPr lang="ru-RU" dirty="0"/>
              <a:t>вышел за разрешённый предел территории,</a:t>
            </a:r>
          </a:p>
          <a:p>
            <a:pPr lvl="1"/>
            <a:r>
              <a:rPr lang="ru-RU" dirty="0"/>
              <a:t>не перемещается более </a:t>
            </a:r>
            <a:r>
              <a:rPr lang="en-US" dirty="0"/>
              <a:t>X </a:t>
            </a:r>
            <a:r>
              <a:rPr lang="ru-RU" dirty="0"/>
              <a:t>часов.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1309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BEDEC-5325-AAEB-1319-ADD23FEDF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 какие нефункциональные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518C6-3745-081F-6746-EC047E93BF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Легко расширяемая архитектура (возможность интеграций с </a:t>
            </a:r>
            <a:r>
              <a:rPr lang="en-US" dirty="0"/>
              <a:t>IoT-</a:t>
            </a:r>
            <a:r>
              <a:rPr lang="ru-RU" dirty="0"/>
              <a:t>датчиками).</a:t>
            </a:r>
          </a:p>
          <a:p>
            <a:r>
              <a:rPr lang="ru-RU" dirty="0"/>
              <a:t>Масштабируемость до 1 млн гусей.</a:t>
            </a:r>
          </a:p>
          <a:p>
            <a:r>
              <a:rPr lang="ru-RU" dirty="0"/>
              <a:t>Интерфейсы должны работать в браузере и мобильных устройствах.</a:t>
            </a:r>
          </a:p>
          <a:p>
            <a:r>
              <a:rPr lang="ru-RU" dirty="0"/>
              <a:t>Время ответа интерфейса ≤ 1 сек при нормальной нагрузке.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75249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A2813-EEF2-195D-091B-F3A2CDDA0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Давайте посмотрим как этим будут пользоваться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B8EA6-8940-7A25-709E-5DD65CA13F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Название:</a:t>
            </a:r>
            <a:r>
              <a:rPr lang="ru-RU" dirty="0"/>
              <a:t> Регистрация нового гуся на ферме</a:t>
            </a:r>
          </a:p>
          <a:p>
            <a:r>
              <a:rPr lang="ru-RU" b="1" dirty="0"/>
              <a:t>Актор:</a:t>
            </a:r>
            <a:r>
              <a:rPr lang="ru-RU" dirty="0"/>
              <a:t> Сотрудник фермы</a:t>
            </a:r>
          </a:p>
          <a:p>
            <a:r>
              <a:rPr lang="ru-RU" b="1" dirty="0"/>
              <a:t>Предусловия:</a:t>
            </a:r>
            <a:r>
              <a:rPr lang="ru-RU" dirty="0"/>
              <a:t> Сотрудник авторизован</a:t>
            </a:r>
          </a:p>
          <a:p>
            <a:r>
              <a:rPr lang="ru-RU" b="1" dirty="0"/>
              <a:t>Шаги:</a:t>
            </a:r>
            <a:endParaRPr lang="ru-RU" dirty="0"/>
          </a:p>
          <a:p>
            <a:pPr lvl="1"/>
            <a:r>
              <a:rPr lang="ru-RU" dirty="0"/>
              <a:t>Сотрудник выбирает «Добавить гуся».</a:t>
            </a:r>
          </a:p>
          <a:p>
            <a:pPr lvl="1"/>
            <a:r>
              <a:rPr lang="ru-RU" dirty="0"/>
              <a:t>Вводит кличку, возраст и ферму.</a:t>
            </a:r>
          </a:p>
          <a:p>
            <a:pPr lvl="1"/>
            <a:r>
              <a:rPr lang="ru-RU" dirty="0"/>
              <a:t>Система генерирует уникальный </a:t>
            </a:r>
            <a:r>
              <a:rPr lang="en-US" dirty="0"/>
              <a:t>ID </a:t>
            </a:r>
            <a:r>
              <a:rPr lang="ru-RU" dirty="0"/>
              <a:t>гуся.</a:t>
            </a:r>
          </a:p>
          <a:p>
            <a:pPr lvl="1"/>
            <a:r>
              <a:rPr lang="ru-RU" dirty="0"/>
              <a:t>Гусь появляется в списке «Мои гуси».</a:t>
            </a:r>
          </a:p>
          <a:p>
            <a:r>
              <a:rPr lang="ru-RU" b="1" dirty="0"/>
              <a:t>Результат:</a:t>
            </a:r>
            <a:endParaRPr lang="ru-RU" dirty="0"/>
          </a:p>
          <a:p>
            <a:pPr lvl="1"/>
            <a:r>
              <a:rPr lang="ru-RU" dirty="0"/>
              <a:t>Гусь успешно зарегистрирован.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3610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56A352-80F5-633A-E954-0266AA06CD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В чем отличие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9DB31BF-AE0C-422C-2A4E-3E53F99813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1876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CAEF8-1C56-73DD-0919-9D3B4F847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Гусь Петрович утверждает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9691285-3B5C-9C32-25DC-AF724C58243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69975" y="3094990"/>
          <a:ext cx="10058400" cy="2103120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1905877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10162468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/>
                        <a:t>Хорошие требования</a:t>
                      </a:r>
                      <a:endParaRPr lang="ru-RU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/>
                        <a:t>Плохие требования</a:t>
                      </a:r>
                      <a:endParaRPr lang="ru-RU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3711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Конкретные, измеримые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Размытые и «ещё потом придумаем»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79246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Есть сущности и их связи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Сущности упомянуты, но непонятно что с ними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0403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Есть сценарии использования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Сценарии описаны абстрактно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26435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Видно, что можно начать проект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Невозможно начать, пока не «поговорим ещё»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1577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81959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E144F-E507-851F-F630-9102C9FB7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Бизнес описания в парадигме гусей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8CC14-9104-4E94-81FF-27FC64641EF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Бизнес-описание — это суть вашего проекта, его цели, функции и ключевые характеристики. Это первый шаг для выявления требований к системе.</a:t>
            </a:r>
          </a:p>
          <a:p>
            <a:r>
              <a:rPr lang="ru-RU" dirty="0"/>
              <a:t>Бизнес-описание может содержать целый ряд сведений: от общих целей до конкретных процессов и функций. Например, представьте, что вы разрабатываете приложение для заказа пиццы. Бизнес-описание может включать информацию о том, как должна выглядеть процедура заказа, какие варианты оплаты должны быть доступны, как должна работать система доставки.</a:t>
            </a:r>
          </a:p>
          <a:p>
            <a:r>
              <a:rPr lang="ru-RU" dirty="0"/>
              <a:t>При разборе бизнес описания важно выделить ключевые сущности и процессы, а также определить, какие функциональные и нефункциональные требования они подразумевают. </a:t>
            </a:r>
          </a:p>
        </p:txBody>
      </p:sp>
      <p:pic>
        <p:nvPicPr>
          <p:cNvPr id="13314" name="Picture 2" descr="Picture background">
            <a:extLst>
              <a:ext uri="{FF2B5EF4-FFF2-40B4-BE49-F238E27FC236}">
                <a16:creationId xmlns:a16="http://schemas.microsoft.com/office/drawing/2014/main" id="{F00F1327-9C39-6B5E-B275-DC5764024DE0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4288" y="2397413"/>
            <a:ext cx="4754562" cy="3571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52060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F0E9C65-8112-FFBF-D6E7-807588E53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 перешли в стан конкурентов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7C73AC-9B49-8B5E-39A5-90CF7B966E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0532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2439EBB-0331-BF99-250B-88CCCC8DB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Преамбула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6DBF1CC-1E8D-0189-EDA6-86E393D4406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Вам поручили написать приложение которое эмулирует гусь консоль</a:t>
            </a:r>
            <a:r>
              <a:rPr lang="en-US" dirty="0"/>
              <a:t>,</a:t>
            </a:r>
            <a:r>
              <a:rPr lang="ru-RU" dirty="0"/>
              <a:t> вас лишили подписки на </a:t>
            </a:r>
            <a:r>
              <a:rPr lang="en-US" dirty="0"/>
              <a:t>GPT,</a:t>
            </a:r>
            <a:r>
              <a:rPr lang="ru-RU" dirty="0"/>
              <a:t> </a:t>
            </a:r>
            <a:r>
              <a:rPr lang="en-US" dirty="0"/>
              <a:t>Spotify</a:t>
            </a:r>
            <a:r>
              <a:rPr lang="ru-RU" dirty="0"/>
              <a:t>, отключили монитор и отставили без электропитания пока вы не реализуете функционал</a:t>
            </a:r>
            <a:r>
              <a:rPr lang="en-US" dirty="0"/>
              <a:t>.</a:t>
            </a:r>
            <a:r>
              <a:rPr lang="ru-RU" dirty="0"/>
              <a:t> А главное он должен быть гибок</a:t>
            </a:r>
            <a:r>
              <a:rPr lang="en-US" dirty="0"/>
              <a:t>,</a:t>
            </a:r>
            <a:r>
              <a:rPr lang="ru-RU" dirty="0"/>
              <a:t> адаптируем и самое важное работать</a:t>
            </a:r>
            <a:r>
              <a:rPr lang="en-US" dirty="0"/>
              <a:t> </a:t>
            </a:r>
            <a:r>
              <a:rPr lang="ru-RU" dirty="0"/>
              <a:t>еще вчера</a:t>
            </a:r>
            <a:r>
              <a:rPr lang="en-US" dirty="0"/>
              <a:t>!</a:t>
            </a:r>
          </a:p>
        </p:txBody>
      </p:sp>
      <p:pic>
        <p:nvPicPr>
          <p:cNvPr id="14338" name="Picture 2" descr="Супер гусь» — картинка создана в Шедевруме">
            <a:extLst>
              <a:ext uri="{FF2B5EF4-FFF2-40B4-BE49-F238E27FC236}">
                <a16:creationId xmlns:a16="http://schemas.microsoft.com/office/drawing/2014/main" id="{B5870F84-07CC-028D-7BD8-EDD0C76170ED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2431" y="2193925"/>
            <a:ext cx="3978275" cy="3978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6268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555DE00-5104-C0BE-FF6F-F8BC0A3E8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Начнем с архитектуры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9909AF0-09D5-207E-8909-0F1F7C1F1D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1455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7A038-C4A4-6179-251B-01D29B1A6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Слоистая архитектура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75B9A50-B7FD-690C-3972-3B54C01B16A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Слоистая архитектура разделяет систему на уровни ответственности:</a:t>
            </a:r>
          </a:p>
          <a:p>
            <a:pPr marL="0" indent="0">
              <a:buNone/>
            </a:pPr>
            <a:r>
              <a:rPr lang="ru-RU" dirty="0"/>
              <a:t>Преимущества:</a:t>
            </a:r>
          </a:p>
          <a:p>
            <a:pPr lvl="1"/>
            <a:r>
              <a:rPr lang="ru-RU" dirty="0"/>
              <a:t>Разделение ответственности</a:t>
            </a:r>
          </a:p>
          <a:p>
            <a:pPr lvl="1"/>
            <a:r>
              <a:rPr lang="ru-RU" dirty="0"/>
              <a:t>Изменение БД не ломает правила бизнеса</a:t>
            </a:r>
          </a:p>
          <a:p>
            <a:pPr lvl="1"/>
            <a:r>
              <a:rPr lang="ru-RU" dirty="0"/>
              <a:t>Тесты пишутся проще (можно подменять нижние слои)</a:t>
            </a:r>
          </a:p>
          <a:p>
            <a:pPr lvl="1"/>
            <a:r>
              <a:rPr lang="ru-RU" dirty="0"/>
              <a:t>Код становится предсказуемым</a:t>
            </a:r>
          </a:p>
          <a:p>
            <a:pPr marL="0" indent="0">
              <a:buNone/>
            </a:pPr>
            <a:r>
              <a:rPr lang="ru-RU" dirty="0"/>
              <a:t>Недостатки:</a:t>
            </a:r>
          </a:p>
          <a:p>
            <a:pPr lvl="1"/>
            <a:r>
              <a:rPr lang="ru-RU" dirty="0"/>
              <a:t>Иногда возникает «пробег слоёв» ради простых действий</a:t>
            </a:r>
          </a:p>
          <a:p>
            <a:pPr lvl="1"/>
            <a:r>
              <a:rPr lang="ru-RU" dirty="0"/>
              <a:t>Появляется соблазн запихнуть всё в </a:t>
            </a:r>
            <a:r>
              <a:rPr lang="en-US" i="1" dirty="0"/>
              <a:t>services</a:t>
            </a:r>
            <a:endParaRPr lang="en-US" dirty="0"/>
          </a:p>
          <a:p>
            <a:endParaRPr lang="en-US" dirty="0"/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223E592E-FE9E-8647-C391-FC44CAF0864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4288" y="2405380"/>
            <a:ext cx="4754562" cy="3555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97129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354408C-4912-8C44-D76B-4337A02B0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 контексте папок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4547CC-AF37-9E21-AE4F-6463BB2978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guisenet</a:t>
            </a:r>
            <a:r>
              <a:rPr lang="en-US" dirty="0"/>
              <a:t>/</a:t>
            </a:r>
          </a:p>
          <a:p>
            <a:pPr lvl="1"/>
            <a:r>
              <a:rPr lang="en-US" dirty="0"/>
              <a:t>  </a:t>
            </a:r>
            <a:r>
              <a:rPr lang="en-US" dirty="0" err="1"/>
              <a:t>api</a:t>
            </a:r>
            <a:r>
              <a:rPr lang="en-US" dirty="0"/>
              <a:t>/                    ← </a:t>
            </a:r>
            <a:r>
              <a:rPr lang="ru-RU" dirty="0"/>
              <a:t>контроллеры, веб-ручки, сериализация</a:t>
            </a:r>
          </a:p>
          <a:p>
            <a:pPr lvl="2"/>
            <a:r>
              <a:rPr lang="ru-RU" dirty="0"/>
              <a:t>   </a:t>
            </a:r>
            <a:r>
              <a:rPr lang="en-US" dirty="0" err="1"/>
              <a:t>goose_api.py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  application/            ← </a:t>
            </a:r>
            <a:r>
              <a:rPr lang="ru-RU" dirty="0"/>
              <a:t>сценарии использования (</a:t>
            </a:r>
            <a:r>
              <a:rPr lang="en-US" dirty="0"/>
              <a:t>use cases)</a:t>
            </a:r>
          </a:p>
          <a:p>
            <a:pPr lvl="2"/>
            <a:r>
              <a:rPr lang="en-US" dirty="0"/>
              <a:t>    </a:t>
            </a:r>
            <a:r>
              <a:rPr lang="ru-RU" dirty="0"/>
              <a:t>	</a:t>
            </a:r>
            <a:r>
              <a:rPr lang="en-US" dirty="0" err="1"/>
              <a:t>register_goose.py</a:t>
            </a:r>
            <a:endParaRPr lang="en-US" dirty="0"/>
          </a:p>
          <a:p>
            <a:pPr lvl="2"/>
            <a:r>
              <a:rPr lang="en-US" dirty="0"/>
              <a:t>    </a:t>
            </a:r>
            <a:r>
              <a:rPr lang="ru-RU" dirty="0"/>
              <a:t>	</a:t>
            </a:r>
            <a:r>
              <a:rPr lang="en-US" dirty="0" err="1"/>
              <a:t>update_goose_status.py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  domain/                 ← </a:t>
            </a:r>
            <a:r>
              <a:rPr lang="ru-RU" dirty="0"/>
              <a:t>модели и бизнес-правила (ЧИСТЫЕ классы)</a:t>
            </a:r>
          </a:p>
          <a:p>
            <a:pPr lvl="2"/>
            <a:r>
              <a:rPr lang="ru-RU" dirty="0"/>
              <a:t>    </a:t>
            </a:r>
            <a:r>
              <a:rPr lang="en-US" dirty="0" err="1"/>
              <a:t>goose.py</a:t>
            </a:r>
            <a:endParaRPr lang="en-US" dirty="0"/>
          </a:p>
          <a:p>
            <a:pPr lvl="2"/>
            <a:r>
              <a:rPr lang="en-US" dirty="0"/>
              <a:t>    </a:t>
            </a:r>
            <a:r>
              <a:rPr lang="en-US" dirty="0" err="1"/>
              <a:t>goose_status.py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  data/                   ← </a:t>
            </a:r>
            <a:r>
              <a:rPr lang="ru-RU" dirty="0"/>
              <a:t>доступ к данным, </a:t>
            </a:r>
            <a:r>
              <a:rPr lang="en-US" dirty="0"/>
              <a:t>DAO</a:t>
            </a:r>
          </a:p>
          <a:p>
            <a:pPr lvl="2"/>
            <a:r>
              <a:rPr lang="en-US" dirty="0"/>
              <a:t>    </a:t>
            </a:r>
            <a:r>
              <a:rPr lang="en-US" dirty="0" err="1"/>
              <a:t>goose_repository_sqlite.py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4405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FC67DA2-2B95-2A64-D4B7-645C229C5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Чистая архитектура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E53DCC5-32CF-51B3-AB56-F51A67E5299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Корпоративные бизнес-правила (</a:t>
            </a:r>
            <a:r>
              <a:rPr lang="en-US" dirty="0"/>
              <a:t>Enterprise Business Rules) — </a:t>
            </a:r>
            <a:r>
              <a:rPr lang="ru-RU" dirty="0"/>
              <a:t>объекты, которые представляют данные и бизнес-логику приложения, не зависят от фреймворка или технологий, используемых для реализации приложения.</a:t>
            </a:r>
          </a:p>
          <a:p>
            <a:r>
              <a:rPr lang="ru-RU" dirty="0"/>
              <a:t>Прикладные бизнес-правила (</a:t>
            </a:r>
            <a:r>
              <a:rPr lang="en-US" dirty="0"/>
              <a:t>Application Business Rules) — </a:t>
            </a:r>
            <a:r>
              <a:rPr lang="ru-RU" dirty="0"/>
              <a:t>правила, которые описывают, как система должна взаимодействовать с внешним миром, определяют, какое поведение разрешено или запрещено в системе. Другими словами, определяют, как система будет работать.</a:t>
            </a:r>
          </a:p>
          <a:p>
            <a:r>
              <a:rPr lang="ru-RU" dirty="0"/>
              <a:t>Адаптеры интерфейса (</a:t>
            </a:r>
            <a:r>
              <a:rPr lang="en-US" dirty="0"/>
              <a:t>Interface Adapters) — </a:t>
            </a:r>
            <a:r>
              <a:rPr lang="ru-RU" dirty="0"/>
              <a:t>классы, которые реализуют взаимодействие между внутренними слоями приложения. Они преобразуют запросы из внешнего мира в вызовы методов внутри системы.</a:t>
            </a:r>
          </a:p>
          <a:p>
            <a:r>
              <a:rPr lang="ru-RU" dirty="0"/>
              <a:t>Фреймворки и драйверы (</a:t>
            </a:r>
            <a:r>
              <a:rPr lang="en-US" dirty="0"/>
              <a:t>Frameworks &amp; Drivers) — </a:t>
            </a:r>
            <a:r>
              <a:rPr lang="ru-RU" dirty="0"/>
              <a:t>внешний слой, отвечающий за взаимодействие с </a:t>
            </a:r>
            <a:r>
              <a:rPr lang="en-US" dirty="0"/>
              <a:t>I/O-</a:t>
            </a:r>
            <a:r>
              <a:rPr lang="ru-RU" dirty="0"/>
              <a:t>сущностями (базы данных, устройства, </a:t>
            </a:r>
            <a:r>
              <a:rPr lang="en-US" dirty="0"/>
              <a:t>UI) </a:t>
            </a:r>
            <a:r>
              <a:rPr lang="ru-RU" dirty="0"/>
              <a:t>и их адаптацию к внутренним слоям.</a:t>
            </a:r>
          </a:p>
          <a:p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6922844-DFCA-B496-A353-F08DB69EB96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64288" y="2492552"/>
            <a:ext cx="4754562" cy="3381021"/>
          </a:xfrm>
        </p:spPr>
      </p:pic>
    </p:spTree>
    <p:extLst>
      <p:ext uri="{BB962C8B-B14F-4D97-AF65-F5344CB8AC3E}">
        <p14:creationId xmlns:p14="http://schemas.microsoft.com/office/powerpoint/2010/main" val="34550353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ED7F7-8073-300C-9D84-9CCB82DCA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 контексте папок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030849A-9FDA-41E3-FA10-9F7BB68ED5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err="1"/>
              <a:t>guisenet</a:t>
            </a:r>
            <a:r>
              <a:rPr lang="en-US" dirty="0"/>
              <a:t>/</a:t>
            </a:r>
          </a:p>
          <a:p>
            <a:pPr lvl="1"/>
            <a:r>
              <a:rPr lang="en-US" dirty="0"/>
              <a:t>  domain/                   ← </a:t>
            </a:r>
            <a:r>
              <a:rPr lang="ru-RU" dirty="0"/>
              <a:t>сущности и бизнес-правила</a:t>
            </a:r>
          </a:p>
          <a:p>
            <a:pPr lvl="2"/>
            <a:r>
              <a:rPr lang="ru-RU" dirty="0"/>
              <a:t>    </a:t>
            </a:r>
            <a:r>
              <a:rPr lang="en-US" dirty="0" err="1"/>
              <a:t>goose.py</a:t>
            </a:r>
            <a:endParaRPr lang="en-US" dirty="0"/>
          </a:p>
          <a:p>
            <a:pPr lvl="2"/>
            <a:r>
              <a:rPr lang="en-US" dirty="0"/>
              <a:t>    </a:t>
            </a:r>
            <a:r>
              <a:rPr lang="en-US" dirty="0" err="1"/>
              <a:t>movement_rules.py</a:t>
            </a:r>
            <a:endParaRPr lang="en-US" dirty="0"/>
          </a:p>
          <a:p>
            <a:pPr lvl="1"/>
            <a:r>
              <a:rPr lang="en-US" dirty="0"/>
              <a:t>  </a:t>
            </a:r>
            <a:r>
              <a:rPr lang="en-US" dirty="0" err="1"/>
              <a:t>use_cases</a:t>
            </a:r>
            <a:r>
              <a:rPr lang="en-US" dirty="0"/>
              <a:t>/                ← application-</a:t>
            </a:r>
            <a:r>
              <a:rPr lang="ru-RU" dirty="0"/>
              <a:t>логика не знает о БД</a:t>
            </a:r>
          </a:p>
          <a:p>
            <a:pPr lvl="2"/>
            <a:r>
              <a:rPr lang="ru-RU" dirty="0"/>
              <a:t>    </a:t>
            </a:r>
            <a:r>
              <a:rPr lang="en-US" dirty="0" err="1"/>
              <a:t>register_goose.py</a:t>
            </a:r>
            <a:endParaRPr lang="en-US" dirty="0"/>
          </a:p>
          <a:p>
            <a:pPr lvl="2"/>
            <a:r>
              <a:rPr lang="en-US" dirty="0"/>
              <a:t>    </a:t>
            </a:r>
            <a:r>
              <a:rPr lang="en-US" dirty="0" err="1"/>
              <a:t>track_movement.py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  ports/                    ← </a:t>
            </a:r>
            <a:r>
              <a:rPr lang="ru-RU" dirty="0"/>
              <a:t>интерфейсы (контракты)</a:t>
            </a:r>
          </a:p>
          <a:p>
            <a:pPr lvl="2"/>
            <a:r>
              <a:rPr lang="ru-RU" dirty="0"/>
              <a:t>    </a:t>
            </a:r>
            <a:r>
              <a:rPr lang="en-US" dirty="0" err="1"/>
              <a:t>goose_repository.py</a:t>
            </a:r>
            <a:endParaRPr lang="en-US" dirty="0"/>
          </a:p>
          <a:p>
            <a:pPr lvl="2"/>
            <a:r>
              <a:rPr lang="en-US" dirty="0"/>
              <a:t>    </a:t>
            </a:r>
            <a:r>
              <a:rPr lang="en-US" dirty="0" err="1"/>
              <a:t>gps_tracker.py</a:t>
            </a:r>
            <a:endParaRPr lang="en-US" dirty="0"/>
          </a:p>
          <a:p>
            <a:pPr lvl="1"/>
            <a:r>
              <a:rPr lang="en-US" dirty="0"/>
              <a:t>  adapters/                 ← </a:t>
            </a:r>
            <a:r>
              <a:rPr lang="ru-RU" dirty="0"/>
              <a:t>реализации интерфейсов</a:t>
            </a:r>
          </a:p>
          <a:p>
            <a:pPr lvl="2"/>
            <a:r>
              <a:rPr lang="ru-RU" dirty="0"/>
              <a:t>    </a:t>
            </a:r>
            <a:r>
              <a:rPr lang="en-US" dirty="0" err="1"/>
              <a:t>db</a:t>
            </a:r>
            <a:r>
              <a:rPr lang="en-US" dirty="0"/>
              <a:t>/</a:t>
            </a:r>
          </a:p>
          <a:p>
            <a:pPr lvl="3"/>
            <a:r>
              <a:rPr lang="en-US" dirty="0"/>
              <a:t>      </a:t>
            </a:r>
            <a:r>
              <a:rPr lang="en-US" dirty="0" err="1"/>
              <a:t>goose_repository_postgres.py</a:t>
            </a:r>
            <a:endParaRPr lang="en-US" dirty="0"/>
          </a:p>
          <a:p>
            <a:pPr lvl="2"/>
            <a:r>
              <a:rPr lang="en-US" dirty="0"/>
              <a:t>    </a:t>
            </a:r>
            <a:r>
              <a:rPr lang="en-US" dirty="0" err="1"/>
              <a:t>gps</a:t>
            </a:r>
            <a:r>
              <a:rPr lang="en-US" dirty="0"/>
              <a:t>/</a:t>
            </a:r>
          </a:p>
          <a:p>
            <a:pPr lvl="3"/>
            <a:r>
              <a:rPr lang="en-US" dirty="0"/>
              <a:t>      </a:t>
            </a:r>
            <a:r>
              <a:rPr lang="en-US" dirty="0" err="1"/>
              <a:t>gps_tracker_yandex_adapter.py</a:t>
            </a:r>
            <a:endParaRPr lang="en-US" dirty="0"/>
          </a:p>
          <a:p>
            <a:pPr lvl="1"/>
            <a:r>
              <a:rPr lang="en-US" dirty="0"/>
              <a:t>  </a:t>
            </a:r>
            <a:r>
              <a:rPr lang="en-US" dirty="0" err="1"/>
              <a:t>entrypoints</a:t>
            </a:r>
            <a:r>
              <a:rPr lang="en-US" dirty="0"/>
              <a:t>/              ← </a:t>
            </a:r>
            <a:r>
              <a:rPr lang="ru-RU" dirty="0"/>
              <a:t>то, как система вызывается извне</a:t>
            </a:r>
          </a:p>
          <a:p>
            <a:pPr lvl="2"/>
            <a:r>
              <a:rPr lang="ru-RU" dirty="0"/>
              <a:t> </a:t>
            </a:r>
            <a:r>
              <a:rPr lang="en-US" dirty="0" err="1"/>
              <a:t>api</a:t>
            </a:r>
            <a:r>
              <a:rPr lang="en-US" dirty="0"/>
              <a:t>/</a:t>
            </a:r>
          </a:p>
          <a:p>
            <a:pPr lvl="3"/>
            <a:r>
              <a:rPr lang="en-US" dirty="0"/>
              <a:t>      	</a:t>
            </a:r>
            <a:r>
              <a:rPr lang="en-US" dirty="0" err="1"/>
              <a:t>fastapi_controllers.py</a:t>
            </a:r>
            <a:endParaRPr lang="en-US" dirty="0"/>
          </a:p>
          <a:p>
            <a:pPr lvl="2"/>
            <a:r>
              <a:rPr lang="en-US" dirty="0"/>
              <a:t>    cli/</a:t>
            </a:r>
          </a:p>
          <a:p>
            <a:pPr lvl="3"/>
            <a:r>
              <a:rPr lang="en-US" dirty="0"/>
              <a:t>      </a:t>
            </a:r>
            <a:r>
              <a:rPr lang="en-US" dirty="0" err="1"/>
              <a:t>sync_script.py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0347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8FF00-20D1-F134-D976-DA0413ACB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Порты и адаптеры (</a:t>
            </a:r>
            <a:r>
              <a:rPr lang="en-US" b="1" dirty="0"/>
              <a:t>Hexagonal Architecture)</a:t>
            </a:r>
            <a:br>
              <a:rPr lang="en-US" b="1" dirty="0"/>
            </a:br>
            <a:endParaRPr lang="en-US" dirty="0"/>
          </a:p>
        </p:txBody>
      </p:sp>
      <p:pic>
        <p:nvPicPr>
          <p:cNvPr id="17410" name="Picture 2" descr="image">
            <a:extLst>
              <a:ext uri="{FF2B5EF4-FFF2-40B4-BE49-F238E27FC236}">
                <a16:creationId xmlns:a16="http://schemas.microsoft.com/office/drawing/2014/main" id="{DDD2E9B4-2DDD-ED53-F53E-4E4FF75F31BE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4288" y="2702226"/>
            <a:ext cx="4754562" cy="2961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2" name="Picture 4" descr="image">
            <a:extLst>
              <a:ext uri="{FF2B5EF4-FFF2-40B4-BE49-F238E27FC236}">
                <a16:creationId xmlns:a16="http://schemas.microsoft.com/office/drawing/2014/main" id="{8323D2DB-8298-58C3-7F4B-6970560318D2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506" y="3344862"/>
            <a:ext cx="4635500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86873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4C062-B25E-8D39-4B7C-BCE931810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 контексте папок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A8CD2BD-2CA8-AA1F-4109-4FB4D6E3E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guisenet</a:t>
            </a:r>
            <a:r>
              <a:rPr lang="en-US" dirty="0"/>
              <a:t>/</a:t>
            </a:r>
          </a:p>
          <a:p>
            <a:pPr lvl="1"/>
            <a:r>
              <a:rPr lang="en-US" dirty="0"/>
              <a:t>  ports/</a:t>
            </a:r>
          </a:p>
          <a:p>
            <a:pPr lvl="2"/>
            <a:r>
              <a:rPr lang="en-US" dirty="0"/>
              <a:t>    </a:t>
            </a:r>
            <a:r>
              <a:rPr lang="en-US" dirty="0" err="1"/>
              <a:t>goose_repository.py</a:t>
            </a:r>
            <a:endParaRPr lang="en-US" dirty="0"/>
          </a:p>
          <a:p>
            <a:pPr lvl="2"/>
            <a:r>
              <a:rPr lang="en-US" dirty="0"/>
              <a:t>    </a:t>
            </a:r>
            <a:r>
              <a:rPr lang="en-US" dirty="0" err="1"/>
              <a:t>notification_service.py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  adapters/</a:t>
            </a:r>
          </a:p>
          <a:p>
            <a:pPr lvl="2"/>
            <a:r>
              <a:rPr lang="en-US" dirty="0"/>
              <a:t>    </a:t>
            </a:r>
            <a:r>
              <a:rPr lang="en-US" dirty="0" err="1"/>
              <a:t>postgres</a:t>
            </a:r>
            <a:r>
              <a:rPr lang="en-US" dirty="0"/>
              <a:t>/</a:t>
            </a:r>
          </a:p>
          <a:p>
            <a:pPr lvl="3"/>
            <a:r>
              <a:rPr lang="en-US" dirty="0"/>
              <a:t>      </a:t>
            </a:r>
            <a:r>
              <a:rPr lang="en-US" dirty="0" err="1"/>
              <a:t>goose_repo_postgres.py</a:t>
            </a:r>
            <a:endParaRPr lang="en-US" dirty="0"/>
          </a:p>
          <a:p>
            <a:pPr lvl="2"/>
            <a:r>
              <a:rPr lang="en-US" dirty="0"/>
              <a:t>    telegram/</a:t>
            </a:r>
          </a:p>
          <a:p>
            <a:pPr lvl="3"/>
            <a:r>
              <a:rPr lang="en-US" dirty="0"/>
              <a:t>      </a:t>
            </a:r>
            <a:r>
              <a:rPr lang="en-US" dirty="0" err="1"/>
              <a:t>notify_telegram_adapter.py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  application/</a:t>
            </a:r>
          </a:p>
          <a:p>
            <a:pPr lvl="2"/>
            <a:r>
              <a:rPr lang="en-US" dirty="0"/>
              <a:t>    </a:t>
            </a:r>
            <a:r>
              <a:rPr lang="en-US" dirty="0" err="1"/>
              <a:t>goose_registration_service.py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42801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5B874-21B6-8185-84BA-34C8CF507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Кричащая архитектура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2B8166-DFC0-BE00-F2E2-2C35D7BD1B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err="1"/>
              <a:t>guisenet</a:t>
            </a:r>
            <a:r>
              <a:rPr lang="en-US" dirty="0"/>
              <a:t>/</a:t>
            </a:r>
          </a:p>
          <a:p>
            <a:pPr lvl="1"/>
            <a:r>
              <a:rPr lang="en-US" dirty="0"/>
              <a:t>  geese/</a:t>
            </a:r>
          </a:p>
          <a:p>
            <a:pPr lvl="2"/>
            <a:r>
              <a:rPr lang="en-US" dirty="0"/>
              <a:t>    </a:t>
            </a:r>
            <a:r>
              <a:rPr lang="en-US" dirty="0" err="1"/>
              <a:t>goose.py</a:t>
            </a:r>
            <a:r>
              <a:rPr lang="en-US" dirty="0"/>
              <a:t>                 ← </a:t>
            </a:r>
            <a:r>
              <a:rPr lang="ru-RU" dirty="0"/>
              <a:t>модель домена</a:t>
            </a:r>
          </a:p>
          <a:p>
            <a:pPr lvl="2"/>
            <a:r>
              <a:rPr lang="ru-RU" dirty="0"/>
              <a:t>    </a:t>
            </a:r>
            <a:r>
              <a:rPr lang="en-US" dirty="0" err="1"/>
              <a:t>goose_status.py</a:t>
            </a:r>
            <a:r>
              <a:rPr lang="en-US" dirty="0"/>
              <a:t>          ← </a:t>
            </a:r>
            <a:r>
              <a:rPr lang="ru-RU" dirty="0"/>
              <a:t>атрибуты/правила</a:t>
            </a:r>
          </a:p>
          <a:p>
            <a:pPr lvl="2"/>
            <a:r>
              <a:rPr lang="ru-RU" dirty="0"/>
              <a:t>    </a:t>
            </a:r>
            <a:r>
              <a:rPr lang="en-US" dirty="0" err="1"/>
              <a:t>goose_repository.py</a:t>
            </a:r>
            <a:r>
              <a:rPr lang="en-US" dirty="0"/>
              <a:t>      ← </a:t>
            </a:r>
            <a:r>
              <a:rPr lang="ru-RU" dirty="0"/>
              <a:t>порт</a:t>
            </a:r>
          </a:p>
          <a:p>
            <a:pPr lvl="2"/>
            <a:r>
              <a:rPr lang="ru-RU" dirty="0"/>
              <a:t>    </a:t>
            </a:r>
            <a:r>
              <a:rPr lang="en-US" dirty="0" err="1"/>
              <a:t>goose_service.py</a:t>
            </a:r>
            <a:r>
              <a:rPr lang="en-US" dirty="0"/>
              <a:t>         ← </a:t>
            </a:r>
            <a:r>
              <a:rPr lang="ru-RU" dirty="0"/>
              <a:t>бизнес-логика</a:t>
            </a:r>
          </a:p>
          <a:p>
            <a:pPr lvl="2"/>
            <a:r>
              <a:rPr lang="ru-RU" dirty="0"/>
              <a:t>    </a:t>
            </a:r>
            <a:r>
              <a:rPr lang="en-US" dirty="0" err="1"/>
              <a:t>goose_api.py</a:t>
            </a:r>
            <a:r>
              <a:rPr lang="en-US" dirty="0"/>
              <a:t>             ← </a:t>
            </a:r>
            <a:r>
              <a:rPr lang="ru-RU" dirty="0"/>
              <a:t>обработчик запросов</a:t>
            </a:r>
          </a:p>
          <a:p>
            <a:pPr lvl="1"/>
            <a:r>
              <a:rPr lang="ru-RU" dirty="0"/>
              <a:t>  </a:t>
            </a:r>
            <a:r>
              <a:rPr lang="en-US" dirty="0"/>
              <a:t>farms/</a:t>
            </a:r>
          </a:p>
          <a:p>
            <a:pPr lvl="2"/>
            <a:r>
              <a:rPr lang="en-US" dirty="0"/>
              <a:t>    </a:t>
            </a:r>
            <a:r>
              <a:rPr lang="en-US" dirty="0" err="1"/>
              <a:t>farm.py</a:t>
            </a:r>
            <a:endParaRPr lang="en-US" dirty="0"/>
          </a:p>
          <a:p>
            <a:pPr lvl="2"/>
            <a:r>
              <a:rPr lang="en-US" dirty="0"/>
              <a:t>    </a:t>
            </a:r>
            <a:r>
              <a:rPr lang="en-US" dirty="0" err="1"/>
              <a:t>farm_repository.py</a:t>
            </a:r>
            <a:endParaRPr lang="en-US" dirty="0"/>
          </a:p>
          <a:p>
            <a:pPr lvl="2"/>
            <a:r>
              <a:rPr lang="en-US" dirty="0"/>
              <a:t>    </a:t>
            </a:r>
            <a:r>
              <a:rPr lang="en-US" dirty="0" err="1"/>
              <a:t>farm_api.py</a:t>
            </a:r>
            <a:endParaRPr lang="en-US" dirty="0"/>
          </a:p>
          <a:p>
            <a:pPr lvl="1"/>
            <a:r>
              <a:rPr lang="en-US" dirty="0"/>
              <a:t>  tracking/</a:t>
            </a:r>
          </a:p>
          <a:p>
            <a:pPr lvl="2"/>
            <a:r>
              <a:rPr lang="en-US" dirty="0"/>
              <a:t>    </a:t>
            </a:r>
            <a:r>
              <a:rPr lang="en-US" dirty="0" err="1"/>
              <a:t>gps_port.py</a:t>
            </a:r>
            <a:r>
              <a:rPr lang="en-US" dirty="0"/>
              <a:t>              ← </a:t>
            </a:r>
            <a:r>
              <a:rPr lang="ru-RU" dirty="0"/>
              <a:t>абстракция внешнего </a:t>
            </a:r>
            <a:r>
              <a:rPr lang="en-US" dirty="0"/>
              <a:t>GPS</a:t>
            </a:r>
          </a:p>
          <a:p>
            <a:pPr lvl="2"/>
            <a:r>
              <a:rPr lang="en-US" dirty="0"/>
              <a:t>    </a:t>
            </a:r>
            <a:r>
              <a:rPr lang="en-US" dirty="0" err="1"/>
              <a:t>tracking_service.py</a:t>
            </a:r>
            <a:r>
              <a:rPr lang="en-US" dirty="0"/>
              <a:t>      ← </a:t>
            </a:r>
            <a:r>
              <a:rPr lang="ru-RU" dirty="0"/>
              <a:t>логика обновления координат</a:t>
            </a:r>
          </a:p>
          <a:p>
            <a:pPr lvl="1"/>
            <a:r>
              <a:rPr lang="ru-RU" dirty="0"/>
              <a:t>  </a:t>
            </a:r>
            <a:r>
              <a:rPr lang="en-US" dirty="0"/>
              <a:t>infra/</a:t>
            </a:r>
          </a:p>
          <a:p>
            <a:pPr lvl="2"/>
            <a:r>
              <a:rPr lang="en-US" dirty="0"/>
              <a:t>    </a:t>
            </a:r>
            <a:r>
              <a:rPr lang="en-US" dirty="0" err="1"/>
              <a:t>db</a:t>
            </a:r>
            <a:r>
              <a:rPr lang="en-US" dirty="0"/>
              <a:t>/</a:t>
            </a:r>
          </a:p>
          <a:p>
            <a:pPr lvl="3"/>
            <a:r>
              <a:rPr lang="en-US" dirty="0"/>
              <a:t>      </a:t>
            </a:r>
            <a:r>
              <a:rPr lang="en-US" dirty="0" err="1"/>
              <a:t>postgres_goose_repo.py</a:t>
            </a:r>
            <a:r>
              <a:rPr lang="en-US" dirty="0"/>
              <a:t> ← </a:t>
            </a:r>
            <a:r>
              <a:rPr lang="ru-RU" dirty="0"/>
              <a:t>адаптер репозитория</a:t>
            </a:r>
          </a:p>
          <a:p>
            <a:pPr lvl="2"/>
            <a:r>
              <a:rPr lang="ru-RU" dirty="0"/>
              <a:t>    </a:t>
            </a:r>
            <a:r>
              <a:rPr lang="en-US" dirty="0" err="1"/>
              <a:t>gps</a:t>
            </a:r>
            <a:r>
              <a:rPr lang="en-US" dirty="0"/>
              <a:t>/</a:t>
            </a:r>
          </a:p>
          <a:p>
            <a:pPr lvl="3"/>
            <a:r>
              <a:rPr lang="en-US" dirty="0"/>
              <a:t>      </a:t>
            </a:r>
            <a:r>
              <a:rPr lang="en-US" dirty="0" err="1"/>
              <a:t>yandex_tracker.py</a:t>
            </a:r>
            <a:r>
              <a:rPr lang="en-US" dirty="0"/>
              <a:t>      ← </a:t>
            </a:r>
            <a:r>
              <a:rPr lang="ru-RU" dirty="0"/>
              <a:t>адаптер</a:t>
            </a:r>
          </a:p>
          <a:p>
            <a:pPr lvl="2"/>
            <a:r>
              <a:rPr lang="ru-RU" dirty="0"/>
              <a:t>    </a:t>
            </a:r>
            <a:r>
              <a:rPr lang="en-US" dirty="0"/>
              <a:t>http/</a:t>
            </a:r>
          </a:p>
          <a:p>
            <a:pPr lvl="3"/>
            <a:r>
              <a:rPr lang="en-US" dirty="0"/>
              <a:t>      </a:t>
            </a:r>
            <a:r>
              <a:rPr lang="en-US" dirty="0" err="1"/>
              <a:t>fastapi_app.py</a:t>
            </a:r>
            <a:endParaRPr lang="en-US" dirty="0"/>
          </a:p>
          <a:p>
            <a:endParaRPr lang="ru-R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61F4CE5-A46A-8203-E3EF-71C94212524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ru-RU" dirty="0"/>
              <a:t>Когда мы открываем проект </a:t>
            </a:r>
            <a:r>
              <a:rPr lang="ru-RU" b="1" dirty="0"/>
              <a:t>по папкам</a:t>
            </a:r>
            <a:r>
              <a:rPr lang="ru-RU" dirty="0"/>
              <a:t>, он должен сразу </a:t>
            </a:r>
            <a:r>
              <a:rPr lang="ru-RU" i="1" dirty="0"/>
              <a:t>кричать</a:t>
            </a:r>
            <a:r>
              <a:rPr lang="ru-RU" dirty="0"/>
              <a:t>, о </a:t>
            </a:r>
            <a:r>
              <a:rPr lang="ru-RU" b="1" dirty="0"/>
              <a:t>чём</a:t>
            </a:r>
            <a:r>
              <a:rPr lang="ru-RU" dirty="0"/>
              <a:t> это система — про бизнес-домен, а не про технологии, фреймворки и контроллеры.</a:t>
            </a:r>
          </a:p>
          <a:p>
            <a:r>
              <a:rPr lang="ru-RU" dirty="0"/>
              <a:t>Архитектура должна «кричать» предметной областью, а не набором слоёв.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08580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44339-1D15-42C2-74CD-DBF3B7518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AE73445-E5E8-A1AA-1B7C-7F07E0AFC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Тесты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EC589E-BAC6-8E4F-40A0-FB0CC5BF5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6079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62DA4-6014-9C88-2FE7-1A8623CBB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Моки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11EE4-B770-1F98-FE1E-43C7DAB60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err="1"/>
              <a:t>Моки</a:t>
            </a:r>
            <a:r>
              <a:rPr lang="ru-RU" b="1" dirty="0"/>
              <a:t> (</a:t>
            </a:r>
            <a:r>
              <a:rPr lang="en-US" b="1" dirty="0"/>
              <a:t>mock, </a:t>
            </a:r>
            <a:r>
              <a:rPr lang="ru-RU" b="1" dirty="0"/>
              <a:t>мок-объекты)</a:t>
            </a:r>
            <a:r>
              <a:rPr lang="ru-RU" dirty="0"/>
              <a:t> — это подделки реальных объектов, которые используются в тестах, чтобы изолировать код и проверить только логику тестируемого компонента.</a:t>
            </a:r>
            <a:br>
              <a:rPr lang="ru-RU" dirty="0"/>
            </a:br>
            <a:endParaRPr lang="ru-RU" dirty="0"/>
          </a:p>
          <a:p>
            <a:r>
              <a:rPr lang="ru-RU" dirty="0"/>
              <a:t>Когда мы пишем </a:t>
            </a:r>
            <a:r>
              <a:rPr lang="ru-RU" b="1" dirty="0"/>
              <a:t>юнит-тест</a:t>
            </a:r>
            <a:r>
              <a:rPr lang="ru-RU" dirty="0"/>
              <a:t>, нам не нужно (и даже вредно) обращаться к реальным базам данных, сетям, файловым системам и т.д.</a:t>
            </a:r>
          </a:p>
          <a:p>
            <a:r>
              <a:rPr lang="ru-RU" dirty="0"/>
              <a:t>Поэтому мы </a:t>
            </a:r>
            <a:r>
              <a:rPr lang="ru-RU" b="1" dirty="0"/>
              <a:t>заменяем реальные зависимости </a:t>
            </a:r>
            <a:r>
              <a:rPr lang="ru-RU" b="1" dirty="0" err="1"/>
              <a:t>моками</a:t>
            </a:r>
            <a:r>
              <a:rPr lang="ru-RU" dirty="0"/>
              <a:t> — объектами, которые ведут себя «как настоящие», но дают контролируемые ответы.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988023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00367-6B78-FB6E-7D0A-4992E2A5A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Зачем нужны </a:t>
            </a:r>
            <a:r>
              <a:rPr lang="ru-RU" b="1" dirty="0" err="1"/>
              <a:t>моки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E249C-147F-61DD-854B-7EDD64AE2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Изоляция</a:t>
            </a:r>
            <a:r>
              <a:rPr lang="ru-RU" dirty="0"/>
              <a:t> — тестируем только один модуль.</a:t>
            </a:r>
          </a:p>
          <a:p>
            <a:r>
              <a:rPr lang="ru-RU" b="1" dirty="0"/>
              <a:t>Предсказуемость</a:t>
            </a:r>
            <a:r>
              <a:rPr lang="ru-RU" dirty="0"/>
              <a:t> — </a:t>
            </a:r>
            <a:r>
              <a:rPr lang="ru-RU" dirty="0" err="1"/>
              <a:t>моки</a:t>
            </a:r>
            <a:r>
              <a:rPr lang="ru-RU" dirty="0"/>
              <a:t> возвращают то, что мы скажем.</a:t>
            </a:r>
          </a:p>
          <a:p>
            <a:r>
              <a:rPr lang="ru-RU" b="1" dirty="0"/>
              <a:t>Ускорение тестов</a:t>
            </a:r>
            <a:r>
              <a:rPr lang="ru-RU" dirty="0"/>
              <a:t> — не обращаемся к внешним системам.</a:t>
            </a:r>
          </a:p>
          <a:p>
            <a:r>
              <a:rPr lang="ru-RU" b="1" dirty="0"/>
              <a:t>Тестирование ошибок</a:t>
            </a:r>
            <a:r>
              <a:rPr lang="ru-RU" dirty="0"/>
              <a:t> — можно легко смоделировать ошибку.</a:t>
            </a:r>
          </a:p>
          <a:p>
            <a:br>
              <a:rPr lang="ru-RU" dirty="0"/>
            </a:br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315649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A6062-6668-E8D4-F6FF-1D2C70F37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StuB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CAD46-F590-7D3E-F8E9-788BB0CA6A1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/>
              <a:t>Stub</a:t>
            </a:r>
            <a:r>
              <a:rPr lang="en-US" dirty="0"/>
              <a:t> — </a:t>
            </a:r>
            <a:r>
              <a:rPr lang="ru-RU" dirty="0"/>
              <a:t>объект, который </a:t>
            </a:r>
            <a:r>
              <a:rPr lang="ru-RU" b="1" dirty="0"/>
              <a:t>ничего не проверяет</a:t>
            </a:r>
            <a:r>
              <a:rPr lang="ru-RU" dirty="0"/>
              <a:t>, не следит за вызовами, </a:t>
            </a:r>
            <a:r>
              <a:rPr lang="ru-RU" b="1" dirty="0"/>
              <a:t>он просто возвращает заранее заданный результат</a:t>
            </a:r>
            <a:r>
              <a:rPr lang="ru-RU" dirty="0"/>
              <a:t>.</a:t>
            </a:r>
          </a:p>
          <a:p>
            <a:r>
              <a:rPr lang="ru-RU" dirty="0"/>
              <a:t>Его задача — </a:t>
            </a:r>
            <a:r>
              <a:rPr lang="ru-RU" b="1" dirty="0"/>
              <a:t>дать тесту данные</a:t>
            </a:r>
            <a:r>
              <a:rPr lang="ru-RU" dirty="0"/>
              <a:t>, чтобы код мог продолжить выполнение.</a:t>
            </a:r>
            <a:endParaRPr lang="en-US" dirty="0"/>
          </a:p>
          <a:p>
            <a:endParaRPr lang="ru-RU" dirty="0"/>
          </a:p>
          <a:p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AC5D0B67-833A-A988-8004-177740DE908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609887542"/>
              </p:ext>
            </p:extLst>
          </p:nvPr>
        </p:nvGraphicFramePr>
        <p:xfrm>
          <a:off x="7093337" y="2395101"/>
          <a:ext cx="4754562" cy="1450560"/>
        </p:xfrm>
        <a:graphic>
          <a:graphicData uri="http://schemas.openxmlformats.org/drawingml/2006/table">
            <a:tbl>
              <a:tblPr/>
              <a:tblGrid>
                <a:gridCol w="1584854">
                  <a:extLst>
                    <a:ext uri="{9D8B030D-6E8A-4147-A177-3AD203B41FA5}">
                      <a16:colId xmlns:a16="http://schemas.microsoft.com/office/drawing/2014/main" val="1955593347"/>
                    </a:ext>
                  </a:extLst>
                </a:gridCol>
                <a:gridCol w="1584854">
                  <a:extLst>
                    <a:ext uri="{9D8B030D-6E8A-4147-A177-3AD203B41FA5}">
                      <a16:colId xmlns:a16="http://schemas.microsoft.com/office/drawing/2014/main" val="2010296529"/>
                    </a:ext>
                  </a:extLst>
                </a:gridCol>
                <a:gridCol w="1584854">
                  <a:extLst>
                    <a:ext uri="{9D8B030D-6E8A-4147-A177-3AD203B41FA5}">
                      <a16:colId xmlns:a16="http://schemas.microsoft.com/office/drawing/2014/main" val="2483667417"/>
                    </a:ext>
                  </a:extLst>
                </a:gridCol>
              </a:tblGrid>
              <a:tr h="1728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 b="1" dirty="0"/>
                        <a:t>Характеристика</a:t>
                      </a:r>
                      <a:endParaRPr lang="ru-RU" sz="900" dirty="0"/>
                    </a:p>
                  </a:txBody>
                  <a:tcPr marL="43223" marR="43223" marT="21612" marB="21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/>
                        <a:t>Stub</a:t>
                      </a:r>
                      <a:endParaRPr lang="en-US" sz="900"/>
                    </a:p>
                  </a:txBody>
                  <a:tcPr marL="43223" marR="43223" marT="21612" marB="21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/>
                        <a:t>Mock</a:t>
                      </a:r>
                      <a:endParaRPr lang="en-US" sz="900"/>
                    </a:p>
                  </a:txBody>
                  <a:tcPr marL="43223" marR="43223" marT="21612" marB="21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7167382"/>
                  </a:ext>
                </a:extLst>
              </a:tr>
              <a:tr h="3025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/>
                        <a:t>Возвращает заранее заданный результат</a:t>
                      </a:r>
                    </a:p>
                  </a:txBody>
                  <a:tcPr marL="43223" marR="43223" marT="21612" marB="21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✅</a:t>
                      </a:r>
                    </a:p>
                  </a:txBody>
                  <a:tcPr marL="43223" marR="43223" marT="21612" marB="21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✅</a:t>
                      </a:r>
                    </a:p>
                  </a:txBody>
                  <a:tcPr marL="43223" marR="43223" marT="21612" marB="21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2137800"/>
                  </a:ext>
                </a:extLst>
              </a:tr>
              <a:tr h="3025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/>
                        <a:t>Проверяет, как была вызвана функция</a:t>
                      </a:r>
                    </a:p>
                  </a:txBody>
                  <a:tcPr marL="43223" marR="43223" marT="21612" marB="21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❌</a:t>
                      </a:r>
                    </a:p>
                  </a:txBody>
                  <a:tcPr marL="43223" marR="43223" marT="21612" marB="21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✅</a:t>
                      </a:r>
                    </a:p>
                  </a:txBody>
                  <a:tcPr marL="43223" marR="43223" marT="21612" marB="21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3482993"/>
                  </a:ext>
                </a:extLst>
              </a:tr>
              <a:tr h="3025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/>
                        <a:t>Используется для тестирования логики</a:t>
                      </a:r>
                    </a:p>
                  </a:txBody>
                  <a:tcPr marL="43223" marR="43223" marT="21612" marB="21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✅</a:t>
                      </a:r>
                    </a:p>
                  </a:txBody>
                  <a:tcPr marL="43223" marR="43223" marT="21612" marB="21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✅</a:t>
                      </a:r>
                    </a:p>
                  </a:txBody>
                  <a:tcPr marL="43223" marR="43223" marT="21612" marB="21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033051"/>
                  </a:ext>
                </a:extLst>
              </a:tr>
              <a:tr h="3025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900"/>
                        <a:t>Используется для проверки взаимодействия</a:t>
                      </a:r>
                    </a:p>
                  </a:txBody>
                  <a:tcPr marL="43223" marR="43223" marT="21612" marB="21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❌</a:t>
                      </a:r>
                    </a:p>
                  </a:txBody>
                  <a:tcPr marL="43223" marR="43223" marT="21612" marB="21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✅</a:t>
                      </a:r>
                    </a:p>
                  </a:txBody>
                  <a:tcPr marL="43223" marR="43223" marT="21612" marB="21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87826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41602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79D21F0-F073-CDFA-C3C3-371147EA8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Давайте на практике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225DF64-1CEA-C6B2-B709-51C84F34DD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14117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60C0E-CD1E-51D5-D7A4-E2469BBA6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C15062-BE30-B308-29EA-B2FADB2E87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17204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746C0-DAF9-3289-7F67-07A71E109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294E4-AC4F-DFAE-F067-4ACF9599A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B3E8AB-761D-6DB2-A8B2-E1D992CF04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Возьмите любой продукт или проект (желательно взять свой)</a:t>
            </a:r>
          </a:p>
          <a:p>
            <a:r>
              <a:rPr lang="ru-RU" dirty="0"/>
              <a:t>Придумайте 5 вопросов к заказчику (с пояснениями, зачем каждый вопрос нужен).</a:t>
            </a:r>
          </a:p>
          <a:p>
            <a:r>
              <a:rPr lang="ru-RU" dirty="0"/>
              <a:t>Определите 3–5 ключевых сущностей системы (кратко описать каждую).</a:t>
            </a:r>
          </a:p>
          <a:p>
            <a:r>
              <a:rPr lang="ru-RU" dirty="0"/>
              <a:t>Выделите 2–4 основных модуля системы (кратко описать функционал).</a:t>
            </a:r>
          </a:p>
          <a:p>
            <a:r>
              <a:rPr lang="ru-RU" dirty="0"/>
              <a:t>Нарисуйте упрощённую схему архитектуры.</a:t>
            </a:r>
          </a:p>
          <a:p>
            <a:r>
              <a:rPr lang="ru-RU" dirty="0"/>
              <a:t>Выберите 1–2 ключевых сценария работы сервиса для тестирования.</a:t>
            </a:r>
          </a:p>
          <a:p>
            <a:r>
              <a:rPr lang="ru-RU" b="1" dirty="0"/>
              <a:t>Самое важное</a:t>
            </a:r>
            <a:r>
              <a:rPr lang="en-US" b="1" dirty="0"/>
              <a:t>:</a:t>
            </a:r>
          </a:p>
          <a:p>
            <a:pPr lvl="1"/>
            <a:r>
              <a:rPr lang="ru-RU" dirty="0"/>
              <a:t>Вы должны дать на ревью полученные вещи не только преподавателю но и другим командам на оценивание</a:t>
            </a:r>
            <a:r>
              <a:rPr lang="en-US" dirty="0"/>
              <a:t>! </a:t>
            </a:r>
            <a:r>
              <a:rPr lang="ru-RU" dirty="0"/>
              <a:t>Оценивание должно быть справедливым и учитывать полноту и продуманность выполненных подпунктов</a:t>
            </a:r>
            <a:r>
              <a:rPr lang="en-US" dirty="0"/>
              <a:t>,</a:t>
            </a:r>
            <a:r>
              <a:rPr lang="ru-RU" dirty="0"/>
              <a:t> так как далее это можно будет реализовать</a:t>
            </a:r>
            <a:r>
              <a:rPr lang="en-US" dirty="0"/>
              <a:t>:D</a:t>
            </a:r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3524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146</TotalTime>
  <Words>2605</Words>
  <Application>Microsoft Macintosh PowerPoint</Application>
  <PresentationFormat>Widescreen</PresentationFormat>
  <Paragraphs>304</Paragraphs>
  <Slides>49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6" baseType="lpstr">
      <vt:lpstr>Arial</vt:lpstr>
      <vt:lpstr>Calibri</vt:lpstr>
      <vt:lpstr>Rockwell</vt:lpstr>
      <vt:lpstr>Rockwell Condensed</vt:lpstr>
      <vt:lpstr>Rockwell Extra Bold</vt:lpstr>
      <vt:lpstr>Wingdings</vt:lpstr>
      <vt:lpstr>Wood Type</vt:lpstr>
      <vt:lpstr>Архитектура, tесты и 5 Почему</vt:lpstr>
      <vt:lpstr>Глава 1. Проблема</vt:lpstr>
      <vt:lpstr>Компания топ-Гусь</vt:lpstr>
      <vt:lpstr>С чего же все начинается</vt:lpstr>
      <vt:lpstr>Правильно, давайте узнаем требования</vt:lpstr>
      <vt:lpstr>Какие бывают требования</vt:lpstr>
      <vt:lpstr>Важно понимать, что</vt:lpstr>
      <vt:lpstr>Что такое системные требования</vt:lpstr>
      <vt:lpstr>Как собирать системные требования? </vt:lpstr>
      <vt:lpstr>что конкретно должна делать наша система</vt:lpstr>
      <vt:lpstr>Вопросы, вопросы и еще вопросы</vt:lpstr>
      <vt:lpstr>Use case</vt:lpstr>
      <vt:lpstr>А что если мы не любим функции</vt:lpstr>
      <vt:lpstr>Какие бывает требования</vt:lpstr>
      <vt:lpstr>Какие же вопросы</vt:lpstr>
      <vt:lpstr>Вернемся к компании ТОП-ГУСЬ</vt:lpstr>
      <vt:lpstr>Бизнес описание топ-Гуся</vt:lpstr>
      <vt:lpstr>Продолжение</vt:lpstr>
      <vt:lpstr>Итог</vt:lpstr>
      <vt:lpstr>Вот как у нас</vt:lpstr>
      <vt:lpstr>PowerPoint Presentation</vt:lpstr>
      <vt:lpstr>Ой, что-то как-то непонятно</vt:lpstr>
      <vt:lpstr>А вот как у конкурентов</vt:lpstr>
      <vt:lpstr>PowerPoint Presentation</vt:lpstr>
      <vt:lpstr>Начнем правильно собирать требования</vt:lpstr>
      <vt:lpstr>Что же есть в нашем мире</vt:lpstr>
      <vt:lpstr>Какие функциональные требования у нас</vt:lpstr>
      <vt:lpstr>А какие нефункциональные</vt:lpstr>
      <vt:lpstr>Давайте посмотрим как этим будут пользоваться</vt:lpstr>
      <vt:lpstr>В чем отличие</vt:lpstr>
      <vt:lpstr>Гусь Петрович утверждает</vt:lpstr>
      <vt:lpstr>Бизнес описания в парадигме гусей</vt:lpstr>
      <vt:lpstr>Вы перешли в стан конкурентов</vt:lpstr>
      <vt:lpstr>Преамбула</vt:lpstr>
      <vt:lpstr>Начнем с архитектуры</vt:lpstr>
      <vt:lpstr>Слоистая архитектура</vt:lpstr>
      <vt:lpstr>В контексте папок</vt:lpstr>
      <vt:lpstr>Чистая архитектура</vt:lpstr>
      <vt:lpstr>В контексте папок</vt:lpstr>
      <vt:lpstr>Порты и адаптеры (Hexagonal Architecture) </vt:lpstr>
      <vt:lpstr>В контексте папок</vt:lpstr>
      <vt:lpstr>Кричащая архитектура</vt:lpstr>
      <vt:lpstr>Тесты</vt:lpstr>
      <vt:lpstr>Моки</vt:lpstr>
      <vt:lpstr>Зачем нужны моки</vt:lpstr>
      <vt:lpstr>StuB</vt:lpstr>
      <vt:lpstr>Давайте на практике</vt:lpstr>
      <vt:lpstr>Задача</vt:lpstr>
      <vt:lpstr>Задача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3</cp:revision>
  <dcterms:created xsi:type="dcterms:W3CDTF">2025-10-30T12:05:22Z</dcterms:created>
  <dcterms:modified xsi:type="dcterms:W3CDTF">2025-10-30T14:31:29Z</dcterms:modified>
</cp:coreProperties>
</file>
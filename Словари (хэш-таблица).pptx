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8"/>
    <p:restoredTop sz="94092"/>
  </p:normalViewPr>
  <p:slideViewPr>
    <p:cSldViewPr snapToGrid="0">
      <p:cViewPr varScale="1">
        <p:scale>
          <a:sx n="50" d="100"/>
          <a:sy n="50" d="100"/>
        </p:scale>
        <p:origin x="16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27920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7838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26836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659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1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0066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6715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5826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2108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3127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0486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9F97514-0316-0B44-B14B-D1490E53ED7A}" type="datetimeFigureOut">
              <a:rPr lang="en-RU" smtClean="0"/>
              <a:t>18.09.2024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1E91B2-5C61-7F45-B863-665425C362F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3239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2052-DECF-AA54-2722-8FC561339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Как же работают словари</a:t>
            </a:r>
            <a:r>
              <a:rPr lang="en-US" dirty="0">
                <a:latin typeface="GOST Type AU" panose="02000306020200020003" pitchFamily="2" charset="0"/>
              </a:rPr>
              <a:t> </a:t>
            </a:r>
            <a:r>
              <a:rPr lang="ru-RU" dirty="0">
                <a:latin typeface="GOST Type AU" panose="02000306020200020003" pitchFamily="2" charset="0"/>
              </a:rPr>
              <a:t>и множества под капотом</a:t>
            </a:r>
            <a:endParaRPr lang="en-RU" dirty="0">
              <a:latin typeface="GOST Type AU" panose="020003060202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8454D-AD12-51B9-22F6-89D64919E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2024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1AA7-E7B6-E34C-1D79-01E51389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Волнообразность хеш-функции</a:t>
            </a:r>
            <a:endParaRPr lang="en-RU" dirty="0">
              <a:latin typeface="GOST Type AU" panose="020003060202000200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B08A6D-B6A2-5A08-D4E9-47DAC5397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6887" y="2290695"/>
            <a:ext cx="5998226" cy="4360804"/>
          </a:xfrm>
        </p:spPr>
      </p:pic>
    </p:spTree>
    <p:extLst>
      <p:ext uri="{BB962C8B-B14F-4D97-AF65-F5344CB8AC3E}">
        <p14:creationId xmlns:p14="http://schemas.microsoft.com/office/powerpoint/2010/main" val="58802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0DEC-D564-D22A-4554-270818B9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Алгоритм вставки во множество</a:t>
            </a:r>
            <a:endParaRPr lang="en-RU" dirty="0">
              <a:latin typeface="GOST Type AU" panose="02000306020200020003" pitchFamily="2" charset="0"/>
            </a:endParaRPr>
          </a:p>
        </p:txBody>
      </p:sp>
      <p:pic>
        <p:nvPicPr>
          <p:cNvPr id="1026" name="Picture 2" descr="Hash table algorithm: adding element.">
            <a:extLst>
              <a:ext uri="{FF2B5EF4-FFF2-40B4-BE49-F238E27FC236}">
                <a16:creationId xmlns:a16="http://schemas.microsoft.com/office/drawing/2014/main" id="{3C9E9431-91CD-0600-3E31-29B8416BC2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229" y="2599788"/>
            <a:ext cx="6659132" cy="345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87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11D3-AA3B-95F1-613A-1E965B12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1/3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22BD-E39C-DD68-406A-A32540A1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U" dirty="0">
                <a:latin typeface="GOST Type AU" panose="02000306020200020003" pitchFamily="2" charset="0"/>
              </a:rPr>
              <a:t>Set </a:t>
            </a:r>
            <a:r>
              <a:rPr lang="ru-RU" dirty="0">
                <a:latin typeface="GOST Type AU" panose="02000306020200020003" pitchFamily="2" charset="0"/>
              </a:rPr>
              <a:t>начинается с </a:t>
            </a:r>
            <a:r>
              <a:rPr lang="ru-RU" dirty="0" err="1">
                <a:latin typeface="GOST Type AU" panose="02000306020200020003" pitchFamily="2" charset="0"/>
              </a:rPr>
              <a:t>хеш</a:t>
            </a:r>
            <a:r>
              <a:rPr lang="ru-RU" dirty="0">
                <a:latin typeface="GOST Type AU" panose="02000306020200020003" pitchFamily="2" charset="0"/>
              </a:rPr>
              <a:t> таблицы из 8 корзин</a:t>
            </a:r>
            <a:endParaRPr lang="en-RU" dirty="0">
              <a:latin typeface="GOST Type AU" panose="02000306020200020003" pitchFamily="2" charset="0"/>
            </a:endParaRPr>
          </a:p>
          <a:p>
            <a:r>
              <a:rPr lang="en-RU" dirty="0">
                <a:latin typeface="GOST Type AU" panose="02000306020200020003" pitchFamily="2" charset="0"/>
              </a:rPr>
              <a:t>Python </a:t>
            </a:r>
            <a:r>
              <a:rPr lang="ru-RU" dirty="0">
                <a:latin typeface="GOST Type AU" panose="02000306020200020003" pitchFamily="2" charset="0"/>
              </a:rPr>
              <a:t>следит</a:t>
            </a:r>
            <a:r>
              <a:rPr lang="en-US" dirty="0">
                <a:latin typeface="GOST Type AU" panose="02000306020200020003" pitchFamily="2" charset="0"/>
              </a:rPr>
              <a:t>,</a:t>
            </a:r>
            <a:r>
              <a:rPr lang="ru-RU" dirty="0">
                <a:latin typeface="GOST Type AU" panose="02000306020200020003" pitchFamily="2" charset="0"/>
              </a:rPr>
              <a:t> чтобы как минимум 1/3 корзин в </a:t>
            </a:r>
            <a:r>
              <a:rPr lang="ru-RU" dirty="0" err="1">
                <a:latin typeface="GOST Type AU" panose="02000306020200020003" pitchFamily="2" charset="0"/>
              </a:rPr>
              <a:t>хеш</a:t>
            </a:r>
            <a:r>
              <a:rPr lang="ru-RU" dirty="0">
                <a:latin typeface="GOST Type AU" panose="02000306020200020003" pitchFamily="2" charset="0"/>
              </a:rPr>
              <a:t> таблице были пусты</a:t>
            </a:r>
            <a:r>
              <a:rPr lang="en-US" dirty="0">
                <a:latin typeface="GOST Type AU" panose="02000306020200020003" pitchFamily="2" charset="0"/>
              </a:rPr>
              <a:t>.</a:t>
            </a:r>
            <a:r>
              <a:rPr lang="ru-RU" dirty="0">
                <a:latin typeface="GOST Type AU" panose="02000306020200020003" pitchFamily="2" charset="0"/>
              </a:rPr>
              <a:t> </a:t>
            </a:r>
            <a:endParaRPr lang="en-RU" dirty="0">
              <a:latin typeface="GOST Type AU" panose="020003060202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7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1A55-4061-4725-C1B4-B1C7AFEF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имеем для дней недели</a:t>
            </a:r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5B731-1CC1-DBDE-59EC-65DA5E016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828" y="2638425"/>
            <a:ext cx="5818345" cy="3101975"/>
          </a:xfrm>
        </p:spPr>
      </p:pic>
    </p:spTree>
    <p:extLst>
      <p:ext uri="{BB962C8B-B14F-4D97-AF65-F5344CB8AC3E}">
        <p14:creationId xmlns:p14="http://schemas.microsoft.com/office/powerpoint/2010/main" val="254704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30AC-70DB-C690-BDC8-C596578B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делать если возникнет коллизия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8510-374E-1BFD-8ED6-0DBFE2F6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GOST Type AU" panose="02000306020200020003" pitchFamily="2" charset="0"/>
              </a:rPr>
              <a:t>Incrementing the index after a collision is called linear probing. This can lead to clusters of occupied buckets, which can degrade the hash table performance, so </a:t>
            </a:r>
            <a:r>
              <a:rPr lang="en-GB" dirty="0" err="1">
                <a:latin typeface="GOST Type AU" panose="02000306020200020003" pitchFamily="2" charset="0"/>
              </a:rPr>
              <a:t>CPython</a:t>
            </a:r>
            <a:r>
              <a:rPr lang="en-GB" dirty="0">
                <a:latin typeface="GOST Type AU" panose="02000306020200020003" pitchFamily="2" charset="0"/>
              </a:rPr>
              <a:t> counts the number of linear probes and after a certain threshold, applies a pseudo random number generator to obtain a different index from other bits of the hash code. This optimization is particularly important in large sets.</a:t>
            </a:r>
            <a:endParaRPr lang="en-RU" dirty="0">
              <a:latin typeface="GOST Type AU" panose="020003060202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2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4E92-4300-D61D-A359-87DECA92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Причуды словаря</a:t>
            </a:r>
            <a:endParaRPr lang="en-RU" dirty="0">
              <a:latin typeface="GOST Type AU" panose="020003060202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C5E72-3F97-75DE-C824-3E708953E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В отличии от множеств</a:t>
            </a:r>
            <a:r>
              <a:rPr lang="en-US" dirty="0">
                <a:latin typeface="GOST Type AU" panose="02000306020200020003" pitchFamily="2" charset="0"/>
              </a:rPr>
              <a:t>,</a:t>
            </a:r>
            <a:r>
              <a:rPr lang="ru-RU" dirty="0">
                <a:latin typeface="GOST Type AU" panose="02000306020200020003" pitchFamily="2" charset="0"/>
              </a:rPr>
              <a:t> используемая часть корзин 1/3</a:t>
            </a:r>
            <a:r>
              <a:rPr lang="en-US" dirty="0">
                <a:latin typeface="GOST Type AU" panose="02000306020200020003" pitchFamily="2" charset="0"/>
              </a:rPr>
              <a:t>.</a:t>
            </a:r>
            <a:r>
              <a:rPr lang="ru-RU" dirty="0">
                <a:latin typeface="GOST Type AU" panose="02000306020200020003" pitchFamily="2" charset="0"/>
              </a:rPr>
              <a:t> То есть 2/3 корзин должно быть пустым</a:t>
            </a:r>
            <a:endParaRPr lang="en-RU" dirty="0">
              <a:latin typeface="GOST Type AU" panose="020003060202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0E6B-6402-6EAE-8401-7181BE88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Старые добрые словари</a:t>
            </a:r>
            <a:endParaRPr lang="en-RU" dirty="0"/>
          </a:p>
        </p:txBody>
      </p:sp>
      <p:pic>
        <p:nvPicPr>
          <p:cNvPr id="3074" name="Picture 2" descr="Hash table for old `dict` with 4 key-value pairs.">
            <a:extLst>
              <a:ext uri="{FF2B5EF4-FFF2-40B4-BE49-F238E27FC236}">
                <a16:creationId xmlns:a16="http://schemas.microsoft.com/office/drawing/2014/main" id="{7524BA87-A7D3-ECAB-FEC8-B1F19DC631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2811462"/>
            <a:ext cx="58547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83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D2D2-5B87-E260-3109-24848310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OST Type AU" panose="02000306020200020003" pitchFamily="2" charset="0"/>
              </a:rPr>
              <a:t>Модификация</a:t>
            </a:r>
            <a:endParaRPr lang="en-RU" dirty="0">
              <a:latin typeface="GOST Type AU" panose="02000306020200020003" pitchFamily="2" charset="0"/>
            </a:endParaRPr>
          </a:p>
        </p:txBody>
      </p:sp>
      <p:pic>
        <p:nvPicPr>
          <p:cNvPr id="4098" name="Picture 2" descr="Arrays for compact `dict` with 4 key-value pairs.">
            <a:extLst>
              <a:ext uri="{FF2B5EF4-FFF2-40B4-BE49-F238E27FC236}">
                <a16:creationId xmlns:a16="http://schemas.microsoft.com/office/drawing/2014/main" id="{07101390-ADE8-DA41-E81F-610018CA88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2906712"/>
            <a:ext cx="72644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7619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{E3819105-9A1F-0040-B3CF-5C4F0D649E77}tf10001120</Template>
  <TotalTime>13</TotalTime>
  <Words>142</Words>
  <Application>Microsoft Macintosh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GOST Type AU</vt:lpstr>
      <vt:lpstr>Parcel</vt:lpstr>
      <vt:lpstr>Как же работают словари и множества под капотом</vt:lpstr>
      <vt:lpstr>Волнообразность хеш-функции</vt:lpstr>
      <vt:lpstr>Алгоритм вставки во множество</vt:lpstr>
      <vt:lpstr>Правило 1/3</vt:lpstr>
      <vt:lpstr>Что мы имеем для дней недели</vt:lpstr>
      <vt:lpstr>Что делать если возникнет коллизия</vt:lpstr>
      <vt:lpstr>Причуды словаря</vt:lpstr>
      <vt:lpstr>Старые добрые словари</vt:lpstr>
      <vt:lpstr>Модификация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Самир Ахмед</dc:creator>
  <cp:lastModifiedBy>Самир Ахмед</cp:lastModifiedBy>
  <cp:revision>1</cp:revision>
  <dcterms:created xsi:type="dcterms:W3CDTF">2024-09-18T09:04:10Z</dcterms:created>
  <dcterms:modified xsi:type="dcterms:W3CDTF">2024-09-18T09:17:59Z</dcterms:modified>
</cp:coreProperties>
</file>